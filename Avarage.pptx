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673" r:id="rId3"/>
    <p:sldMasterId id="2147483685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77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embeddedFontLst>
    <p:embeddedFont>
      <p:font typeface="Comic Sans MS" panose="030F0902030302020204" pitchFamily="66" charset="0"/>
      <p:regular r:id="rId25"/>
    </p:embeddedFont>
    <p:embeddedFont>
      <p:font typeface="Corbel" panose="020B0503020204020204" pitchFamily="34" charset="0"/>
      <p:regular r:id="rId26"/>
      <p:bold r:id="rId27"/>
      <p:italic r:id="rId28"/>
      <p:boldItalic r:id="rId29"/>
    </p:embeddedFont>
    <p:embeddedFont>
      <p:font typeface="SutonnyMJ" pitchFamily="2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HecsKWNVLpsG+NB92SwQg/g4H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F0AD33-D1C1-4948-B703-B94E24830594}">
  <a:tblStyle styleId="{72F0AD33-D1C1-4948-B703-B94E24830594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E7EE"/>
          </a:solidFill>
        </a:fill>
      </a:tcStyle>
    </a:wholeTbl>
    <a:band1H>
      <a:tcTxStyle/>
      <a:tcStyle>
        <a:tcBdr/>
        <a:fill>
          <a:solidFill>
            <a:srgbClr val="F4CCD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4CCD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8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324C0C1C-3E2F-7473-E1A4-F29F323E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:notes">
            <a:extLst>
              <a:ext uri="{FF2B5EF4-FFF2-40B4-BE49-F238E27FC236}">
                <a16:creationId xmlns:a16="http://schemas.microsoft.com/office/drawing/2014/main" id="{A164F4CB-A006-0C44-3345-CAB703D0D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6:notes">
            <a:extLst>
              <a:ext uri="{FF2B5EF4-FFF2-40B4-BE49-F238E27FC236}">
                <a16:creationId xmlns:a16="http://schemas.microsoft.com/office/drawing/2014/main" id="{226FAB36-D82A-70B1-363A-92539F157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4734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/>
          <p:nvPr/>
        </p:nvSpPr>
        <p:spPr>
          <a:xfrm>
            <a:off x="385298" y="355600"/>
            <a:ext cx="11374902" cy="6045199"/>
          </a:xfrm>
          <a:prstGeom prst="rect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" name="Google Shape;18;p21"/>
          <p:cNvSpPr txBox="1"/>
          <p:nvPr/>
        </p:nvSpPr>
        <p:spPr>
          <a:xfrm>
            <a:off x="627241" y="6376102"/>
            <a:ext cx="1009597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তাসলিমা আলম, সশি, মাসকাটাদীঘি সপ্রাবি, পবা, রাজশাহী। </a:t>
            </a:r>
            <a:endParaRPr/>
          </a:p>
        </p:txBody>
      </p:sp>
      <p:pic>
        <p:nvPicPr>
          <p:cNvPr id="19" name="Google Shape;1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4971" y="95386"/>
            <a:ext cx="622254" cy="6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5824" y="6001593"/>
            <a:ext cx="622254" cy="6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922" y="6046959"/>
            <a:ext cx="622254" cy="6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26873" y="95386"/>
            <a:ext cx="622254" cy="63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Corbel"/>
              <a:buNone/>
              <a:defRPr sz="72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28"/>
          <p:cNvCxnSpPr/>
          <p:nvPr/>
        </p:nvCxnSpPr>
        <p:spPr>
          <a:xfrm>
            <a:off x="1981200" y="4020408"/>
            <a:ext cx="8229601" cy="0"/>
          </a:xfrm>
          <a:prstGeom prst="straightConnector1">
            <a:avLst/>
          </a:prstGeom>
          <a:noFill/>
          <a:ln w="100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body" idx="1"/>
          </p:nvPr>
        </p:nvSpPr>
        <p:spPr>
          <a:xfrm>
            <a:off x="1143000" y="2057399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2"/>
          </p:nvPr>
        </p:nvSpPr>
        <p:spPr>
          <a:xfrm>
            <a:off x="6267612" y="20574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0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30"/>
          <p:cNvSpPr txBox="1">
            <a:spLocks noGrp="1"/>
          </p:cNvSpPr>
          <p:nvPr>
            <p:ph type="body" idx="2"/>
          </p:nvPr>
        </p:nvSpPr>
        <p:spPr>
          <a:xfrm>
            <a:off x="1143000" y="2721483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55" name="Google Shape;55;p30"/>
          <p:cNvSpPr txBox="1">
            <a:spLocks noGrp="1"/>
          </p:cNvSpPr>
          <p:nvPr>
            <p:ph type="body" idx="3"/>
          </p:nvPr>
        </p:nvSpPr>
        <p:spPr>
          <a:xfrm>
            <a:off x="6269173" y="1999032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4"/>
          </p:nvPr>
        </p:nvSpPr>
        <p:spPr>
          <a:xfrm>
            <a:off x="6269173" y="2719322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1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rbel"/>
              <a:buNone/>
              <a:defRPr sz="4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body" idx="1"/>
          </p:nvPr>
        </p:nvSpPr>
        <p:spPr>
          <a:xfrm>
            <a:off x="5852159" y="1097280"/>
            <a:ext cx="521208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60"/>
              <a:buChar char="•"/>
              <a:defRPr sz="3200"/>
            </a:lvl1pPr>
            <a:lvl2pPr marL="914400" lvl="1" indent="-37084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240"/>
              <a:buChar char="•"/>
              <a:defRPr sz="2800"/>
            </a:lvl2pPr>
            <a:lvl3pPr marL="1371600" lvl="2" indent="-35051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20"/>
              <a:buChar char="•"/>
              <a:defRPr sz="2400"/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5pPr>
            <a:lvl6pPr marL="2743200" lvl="5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6pPr>
            <a:lvl7pPr marL="3200400" lvl="6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7pPr>
            <a:lvl8pPr marL="3657600" lvl="7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8pPr>
            <a:lvl9pPr marL="4114800" lvl="8" indent="-3302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body" idx="2"/>
          </p:nvPr>
        </p:nvSpPr>
        <p:spPr>
          <a:xfrm>
            <a:off x="1143000" y="2834640"/>
            <a:ext cx="39319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rbel"/>
              <a:buNone/>
              <a:defRPr sz="4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>
            <a:spLocks noGrp="1"/>
          </p:cNvSpPr>
          <p:nvPr>
            <p:ph type="pic" idx="2"/>
          </p:nvPr>
        </p:nvSpPr>
        <p:spPr>
          <a:xfrm>
            <a:off x="5413248" y="1069847"/>
            <a:ext cx="6099048" cy="48006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3"/>
          <p:cNvSpPr txBox="1">
            <a:spLocks noGrp="1"/>
          </p:cNvSpPr>
          <p:nvPr>
            <p:ph type="body" idx="1"/>
          </p:nvPr>
        </p:nvSpPr>
        <p:spPr>
          <a:xfrm>
            <a:off x="1143000" y="2834640"/>
            <a:ext cx="3931920" cy="288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4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body" idx="1"/>
          </p:nvPr>
        </p:nvSpPr>
        <p:spPr>
          <a:xfrm rot="5400000">
            <a:off x="4060136" y="-859736"/>
            <a:ext cx="4038600" cy="9872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2004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4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5"/>
          <p:cNvSpPr txBox="1">
            <a:spLocks noGrp="1"/>
          </p:cNvSpPr>
          <p:nvPr>
            <p:ph type="title"/>
          </p:nvPr>
        </p:nvSpPr>
        <p:spPr>
          <a:xfrm rot="5400000">
            <a:off x="7181850" y="2305050"/>
            <a:ext cx="54102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5"/>
          <p:cNvSpPr txBox="1">
            <a:spLocks noGrp="1"/>
          </p:cNvSpPr>
          <p:nvPr>
            <p:ph type="body" idx="1"/>
          </p:nvPr>
        </p:nvSpPr>
        <p:spPr>
          <a:xfrm rot="5400000">
            <a:off x="2152650" y="-247650"/>
            <a:ext cx="5410200" cy="74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2004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5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5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5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6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6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6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6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2870"/>
            </a:avLst>
          </a:prstGeom>
          <a:solidFill>
            <a:srgbClr val="F10D23"/>
          </a:solidFill>
          <a:ln w="12700" cap="flat" cmpd="sng">
            <a:solidFill>
              <a:srgbClr val="A937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3"/>
          <p:cNvSpPr/>
          <p:nvPr/>
        </p:nvSpPr>
        <p:spPr>
          <a:xfrm>
            <a:off x="304800" y="254000"/>
            <a:ext cx="11582400" cy="6324600"/>
          </a:xfrm>
          <a:prstGeom prst="frame">
            <a:avLst>
              <a:gd name="adj1" fmla="val 2058"/>
            </a:avLst>
          </a:prstGeom>
          <a:blipFill rotWithShape="1">
            <a:blip r:embed="rId2">
              <a:alphaModFix/>
            </a:blip>
            <a:stretch>
              <a:fillRect/>
            </a:stretch>
          </a:blipFill>
          <a:ln w="12700" cap="flat" cmpd="sng">
            <a:solidFill>
              <a:srgbClr val="A937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3"/>
          <p:cNvSpPr txBox="1"/>
          <p:nvPr/>
        </p:nvSpPr>
        <p:spPr>
          <a:xfrm>
            <a:off x="9715500" y="6164302"/>
            <a:ext cx="1917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Taslima Alam</a:t>
            </a:r>
            <a:endParaRPr sz="1600" b="1" i="0" u="none" strike="noStrike" cap="none">
              <a:solidFill>
                <a:srgbClr val="C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6" name="Google Shape;10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5400"/>
            <a:ext cx="1019393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2607" y="0"/>
            <a:ext cx="1019393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5970588"/>
            <a:ext cx="1019393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7857" y="5870575"/>
            <a:ext cx="1019393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3" name="Google Shape;113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4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4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8" name="Google Shape;138;p4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4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0" name="Google Shape;140;p4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2" name="Google Shape;152;p4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3" name="Google Shape;153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4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4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0" name="Google Shape;160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4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/>
          <p:nvPr/>
        </p:nvSpPr>
        <p:spPr>
          <a:xfrm>
            <a:off x="317500" y="355600"/>
            <a:ext cx="11557000" cy="6159500"/>
          </a:xfrm>
          <a:prstGeom prst="frame">
            <a:avLst>
              <a:gd name="adj1" fmla="val 1985"/>
            </a:avLst>
          </a:prstGeom>
          <a:blipFill rotWithShape="1">
            <a:blip r:embed="rId2">
              <a:alphaModFix/>
            </a:blip>
            <a:stretch>
              <a:fillRect/>
            </a:stretch>
          </a:blipFill>
          <a:ln w="19050" cap="flat" cmpd="sng">
            <a:solidFill>
              <a:srgbClr val="A520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9931400" y="6120368"/>
            <a:ext cx="1943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Taslima Alam</a:t>
            </a:r>
            <a:endParaRPr sz="1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7"/>
          <p:cNvSpPr/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47"/>
          <p:cNvSpPr txBox="1"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orbel"/>
              <a:buNone/>
              <a:defRPr sz="7200" b="1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7"/>
          <p:cNvSpPr txBox="1"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76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6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189" name="Google Shape;189;p47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7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47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2" name="Google Shape;192;p47"/>
          <p:cNvCxnSpPr/>
          <p:nvPr/>
        </p:nvCxnSpPr>
        <p:spPr>
          <a:xfrm>
            <a:off x="1978660" y="3733800"/>
            <a:ext cx="8229601" cy="0"/>
          </a:xfrm>
          <a:prstGeom prst="straightConnector1">
            <a:avLst/>
          </a:prstGeom>
          <a:noFill/>
          <a:ln w="100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8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8"/>
          <p:cNvSpPr txBox="1"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2004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48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8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9"/>
          <p:cNvSpPr txBox="1"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Corbel"/>
              <a:buNone/>
              <a:defRPr sz="72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9"/>
          <p:cNvSpPr txBox="1"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49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9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49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5" name="Google Shape;205;p49"/>
          <p:cNvCxnSpPr/>
          <p:nvPr/>
        </p:nvCxnSpPr>
        <p:spPr>
          <a:xfrm>
            <a:off x="1981200" y="4020408"/>
            <a:ext cx="8229601" cy="0"/>
          </a:xfrm>
          <a:prstGeom prst="straightConnector1">
            <a:avLst/>
          </a:prstGeom>
          <a:noFill/>
          <a:ln w="100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0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0"/>
          <p:cNvSpPr txBox="1">
            <a:spLocks noGrp="1"/>
          </p:cNvSpPr>
          <p:nvPr>
            <p:ph type="body" idx="1"/>
          </p:nvPr>
        </p:nvSpPr>
        <p:spPr>
          <a:xfrm>
            <a:off x="1143000" y="2057399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209" name="Google Shape;209;p50"/>
          <p:cNvSpPr txBox="1">
            <a:spLocks noGrp="1"/>
          </p:cNvSpPr>
          <p:nvPr>
            <p:ph type="body" idx="2"/>
          </p:nvPr>
        </p:nvSpPr>
        <p:spPr>
          <a:xfrm>
            <a:off x="6267612" y="20574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210" name="Google Shape;210;p50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50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50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1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51"/>
          <p:cNvSpPr txBox="1"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6" name="Google Shape;216;p51"/>
          <p:cNvSpPr txBox="1">
            <a:spLocks noGrp="1"/>
          </p:cNvSpPr>
          <p:nvPr>
            <p:ph type="body" idx="2"/>
          </p:nvPr>
        </p:nvSpPr>
        <p:spPr>
          <a:xfrm>
            <a:off x="1143000" y="2721483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217" name="Google Shape;217;p51"/>
          <p:cNvSpPr txBox="1">
            <a:spLocks noGrp="1"/>
          </p:cNvSpPr>
          <p:nvPr>
            <p:ph type="body" idx="3"/>
          </p:nvPr>
        </p:nvSpPr>
        <p:spPr>
          <a:xfrm>
            <a:off x="6269173" y="1999032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8" name="Google Shape;218;p51"/>
          <p:cNvSpPr txBox="1">
            <a:spLocks noGrp="1"/>
          </p:cNvSpPr>
          <p:nvPr>
            <p:ph type="body" idx="4"/>
          </p:nvPr>
        </p:nvSpPr>
        <p:spPr>
          <a:xfrm>
            <a:off x="6269173" y="2719322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219" name="Google Shape;219;p51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51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51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2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52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52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52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3"/>
          <p:cNvSpPr txBox="1"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rbel"/>
              <a:buNone/>
              <a:defRPr sz="4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53"/>
          <p:cNvSpPr txBox="1">
            <a:spLocks noGrp="1"/>
          </p:cNvSpPr>
          <p:nvPr>
            <p:ph type="body" idx="1"/>
          </p:nvPr>
        </p:nvSpPr>
        <p:spPr>
          <a:xfrm>
            <a:off x="5852159" y="1097280"/>
            <a:ext cx="521208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60"/>
              <a:buChar char="•"/>
              <a:defRPr sz="3200"/>
            </a:lvl1pPr>
            <a:lvl2pPr marL="914400" lvl="1" indent="-37084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240"/>
              <a:buChar char="•"/>
              <a:defRPr sz="2800"/>
            </a:lvl2pPr>
            <a:lvl3pPr marL="1371600" lvl="2" indent="-35051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20"/>
              <a:buChar char="•"/>
              <a:defRPr sz="2400"/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5pPr>
            <a:lvl6pPr marL="2743200" lvl="5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6pPr>
            <a:lvl7pPr marL="3200400" lvl="6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7pPr>
            <a:lvl8pPr marL="3657600" lvl="7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8pPr>
            <a:lvl9pPr marL="4114800" lvl="8" indent="-3302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•"/>
              <a:defRPr sz="2000"/>
            </a:lvl9pPr>
          </a:lstStyle>
          <a:p>
            <a:endParaRPr/>
          </a:p>
        </p:txBody>
      </p:sp>
      <p:sp>
        <p:nvSpPr>
          <p:cNvPr id="230" name="Google Shape;230;p53"/>
          <p:cNvSpPr txBox="1">
            <a:spLocks noGrp="1"/>
          </p:cNvSpPr>
          <p:nvPr>
            <p:ph type="body" idx="2"/>
          </p:nvPr>
        </p:nvSpPr>
        <p:spPr>
          <a:xfrm>
            <a:off x="1143000" y="2834640"/>
            <a:ext cx="39319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31" name="Google Shape;231;p53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3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53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4"/>
          <p:cNvSpPr txBox="1"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rbel"/>
              <a:buNone/>
              <a:defRPr sz="4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54"/>
          <p:cNvSpPr>
            <a:spLocks noGrp="1"/>
          </p:cNvSpPr>
          <p:nvPr>
            <p:ph type="pic" idx="2"/>
          </p:nvPr>
        </p:nvSpPr>
        <p:spPr>
          <a:xfrm>
            <a:off x="5413248" y="1069847"/>
            <a:ext cx="6099048" cy="48006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54"/>
          <p:cNvSpPr txBox="1">
            <a:spLocks noGrp="1"/>
          </p:cNvSpPr>
          <p:nvPr>
            <p:ph type="body" idx="1"/>
          </p:nvPr>
        </p:nvSpPr>
        <p:spPr>
          <a:xfrm>
            <a:off x="1143000" y="2834640"/>
            <a:ext cx="3931920" cy="288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38" name="Google Shape;238;p54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4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54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5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55"/>
          <p:cNvSpPr txBox="1">
            <a:spLocks noGrp="1"/>
          </p:cNvSpPr>
          <p:nvPr>
            <p:ph type="body" idx="1"/>
          </p:nvPr>
        </p:nvSpPr>
        <p:spPr>
          <a:xfrm rot="5400000">
            <a:off x="4060136" y="-859736"/>
            <a:ext cx="4038600" cy="9872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2004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55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55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55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6"/>
          <p:cNvSpPr txBox="1">
            <a:spLocks noGrp="1"/>
          </p:cNvSpPr>
          <p:nvPr>
            <p:ph type="title"/>
          </p:nvPr>
        </p:nvSpPr>
        <p:spPr>
          <a:xfrm rot="5400000">
            <a:off x="7181850" y="2305050"/>
            <a:ext cx="54102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56"/>
          <p:cNvSpPr txBox="1">
            <a:spLocks noGrp="1"/>
          </p:cNvSpPr>
          <p:nvPr>
            <p:ph type="body" idx="1"/>
          </p:nvPr>
        </p:nvSpPr>
        <p:spPr>
          <a:xfrm rot="5400000">
            <a:off x="2152650" y="-247650"/>
            <a:ext cx="5410200" cy="74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2004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  <p:sp>
        <p:nvSpPr>
          <p:cNvPr id="250" name="Google Shape;250;p56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56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56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E32D9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5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2" name="Google Shape;262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5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6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p6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6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7" name="Google Shape;287;p6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6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9" name="Google Shape;289;p6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6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05" name="Google Shape;305;p6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06" name="Google Shape;306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6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6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3" name="Google Shape;313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6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6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  <a:defRPr sz="44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036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Corbel"/>
              <a:buChar char="•"/>
              <a:defRPr sz="2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rbel"/>
              <a:buChar char="•"/>
              <a:defRPr sz="2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2003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Corbel"/>
              <a:buChar char="•"/>
              <a:defRPr sz="18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09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09879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/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  <a:defRPr sz="44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036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Corbel"/>
              <a:buChar char="•"/>
              <a:defRPr sz="2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rbel"/>
              <a:buChar char="•"/>
              <a:defRPr sz="2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2003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Corbel"/>
              <a:buChar char="•"/>
              <a:defRPr sz="18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09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09879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E32D9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E32D9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E32D9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E32D9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E32D9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E32D9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E32D9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E32D9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E32D9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7FC"/>
            </a:gs>
            <a:gs pos="74000">
              <a:srgbClr val="A9BEE4"/>
            </a:gs>
            <a:gs pos="83000">
              <a:srgbClr val="FFFF00"/>
            </a:gs>
            <a:gs pos="100000">
              <a:srgbClr val="C5D3ED"/>
            </a:gs>
          </a:gsLst>
          <a:lin ang="5400000" scaled="0"/>
        </a:gra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6" name="Google Shape;256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7" name="Google Shape;257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8" name="Google Shape;258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752" y="656394"/>
            <a:ext cx="10058400" cy="554521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"/>
          <p:cNvSpPr txBox="1"/>
          <p:nvPr/>
        </p:nvSpPr>
        <p:spPr>
          <a:xfrm>
            <a:off x="2455708" y="2228671"/>
            <a:ext cx="6948487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 b="1" i="0" u="none" strike="noStrike" cap="none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আজকের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5400" b="1" i="0" u="none" strike="noStrike" cap="none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ক্লাসে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5400" b="1" i="0" u="none" strike="noStrike" cap="none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সবাইকে</a:t>
            </a:r>
            <a:endParaRPr lang="en-US" sz="5400" b="1" dirty="0">
              <a:solidFill>
                <a:schemeClr val="dk1"/>
              </a:solidFill>
              <a:latin typeface="SutonnyMJ" pitchFamily="2" charset="0"/>
              <a:cs typeface="SutonnyMJ" pitchFamily="2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9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স্</a:t>
            </a:r>
            <a:r>
              <a:rPr lang="en-US" sz="9600" b="1" i="0" u="none" strike="noStrike" cap="none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বাগত</a:t>
            </a:r>
            <a:r>
              <a:rPr lang="bn-BD" sz="96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</a:rPr>
              <a:t>ম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2000" b="1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5" name="Google Shape;335;p1"/>
          <p:cNvSpPr/>
          <p:nvPr/>
        </p:nvSpPr>
        <p:spPr>
          <a:xfrm>
            <a:off x="3175416" y="6378238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2"/>
          <p:cNvGrpSpPr/>
          <p:nvPr/>
        </p:nvGrpSpPr>
        <p:grpSpPr>
          <a:xfrm>
            <a:off x="2621813" y="276032"/>
            <a:ext cx="6937632" cy="1531315"/>
            <a:chOff x="1219200" y="675304"/>
            <a:chExt cx="6954982" cy="1534496"/>
          </a:xfrm>
        </p:grpSpPr>
        <p:grpSp>
          <p:nvGrpSpPr>
            <p:cNvPr id="342" name="Google Shape;342;p2"/>
            <p:cNvGrpSpPr/>
            <p:nvPr/>
          </p:nvGrpSpPr>
          <p:grpSpPr>
            <a:xfrm>
              <a:off x="1295402" y="857794"/>
              <a:ext cx="6781940" cy="1352006"/>
              <a:chOff x="1066802" y="457744"/>
              <a:chExt cx="6781940" cy="1352006"/>
            </a:xfrm>
          </p:grpSpPr>
          <p:grpSp>
            <p:nvGrpSpPr>
              <p:cNvPr id="343" name="Google Shape;343;p2"/>
              <p:cNvGrpSpPr/>
              <p:nvPr/>
            </p:nvGrpSpPr>
            <p:grpSpPr>
              <a:xfrm>
                <a:off x="1066802" y="914760"/>
                <a:ext cx="6781940" cy="304677"/>
                <a:chOff x="1295402" y="1448160"/>
                <a:chExt cx="6781940" cy="304677"/>
              </a:xfrm>
            </p:grpSpPr>
            <p:sp>
              <p:nvSpPr>
                <p:cNvPr id="344" name="Google Shape;344;p2"/>
                <p:cNvSpPr/>
                <p:nvPr/>
              </p:nvSpPr>
              <p:spPr>
                <a:xfrm>
                  <a:off x="1295402" y="1448160"/>
                  <a:ext cx="6781940" cy="76169"/>
                </a:xfrm>
                <a:prstGeom prst="rect">
                  <a:avLst/>
                </a:prstGeom>
                <a:solidFill>
                  <a:srgbClr val="C00000"/>
                </a:solidFill>
                <a:ln w="12700" cap="flat" cmpd="sng">
                  <a:solidFill>
                    <a:srgbClr val="A93718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5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5" name="Google Shape;345;p2"/>
                <p:cNvSpPr/>
                <p:nvPr/>
              </p:nvSpPr>
              <p:spPr>
                <a:xfrm>
                  <a:off x="1295402" y="1676668"/>
                  <a:ext cx="6781940" cy="76169"/>
                </a:xfrm>
                <a:prstGeom prst="rect">
                  <a:avLst/>
                </a:prstGeom>
                <a:solidFill>
                  <a:srgbClr val="00B050"/>
                </a:solidFill>
                <a:ln w="12700" cap="flat" cmpd="sng">
                  <a:solidFill>
                    <a:srgbClr val="A93718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5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6" name="Google Shape;346;p2"/>
              <p:cNvSpPr/>
              <p:nvPr/>
            </p:nvSpPr>
            <p:spPr>
              <a:xfrm>
                <a:off x="1066802" y="1371776"/>
                <a:ext cx="6781940" cy="76169"/>
              </a:xfrm>
              <a:prstGeom prst="rect">
                <a:avLst/>
              </a:prstGeom>
              <a:solidFill>
                <a:srgbClr val="C00000"/>
              </a:solidFill>
              <a:ln w="12700" cap="flat" cmpd="sng">
                <a:solidFill>
                  <a:srgbClr val="A9371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95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"/>
              <p:cNvSpPr/>
              <p:nvPr/>
            </p:nvSpPr>
            <p:spPr>
              <a:xfrm>
                <a:off x="1905019" y="514871"/>
                <a:ext cx="1371628" cy="1294879"/>
              </a:xfrm>
              <a:prstGeom prst="ellipse">
                <a:avLst/>
              </a:prstGeom>
              <a:solidFill>
                <a:srgbClr val="C00000"/>
              </a:solidFill>
              <a:ln w="12700" cap="flat" cmpd="sng">
                <a:solidFill>
                  <a:srgbClr val="A9371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387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প</a:t>
                </a:r>
                <a:r>
                  <a:rPr lang="en-US" sz="5387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sz="5387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"/>
              <p:cNvSpPr/>
              <p:nvPr/>
            </p:nvSpPr>
            <p:spPr>
              <a:xfrm>
                <a:off x="3124244" y="495828"/>
                <a:ext cx="1371628" cy="1294879"/>
              </a:xfrm>
              <a:prstGeom prst="ellipse">
                <a:avLst/>
              </a:prstGeom>
              <a:solidFill>
                <a:srgbClr val="C00000"/>
              </a:solidFill>
              <a:ln w="12700" cap="flat" cmpd="sng">
                <a:solidFill>
                  <a:srgbClr val="A9371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387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রি</a:t>
                </a:r>
                <a:endParaRPr sz="5387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"/>
              <p:cNvSpPr/>
              <p:nvPr/>
            </p:nvSpPr>
            <p:spPr>
              <a:xfrm>
                <a:off x="4343470" y="457744"/>
                <a:ext cx="1371628" cy="1294879"/>
              </a:xfrm>
              <a:prstGeom prst="ellipse">
                <a:avLst/>
              </a:prstGeom>
              <a:solidFill>
                <a:srgbClr val="C00000"/>
              </a:solidFill>
              <a:ln w="12700" cap="flat" cmpd="sng">
                <a:solidFill>
                  <a:srgbClr val="A9371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387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চি</a:t>
                </a:r>
                <a:endParaRPr sz="5387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"/>
              <p:cNvSpPr/>
              <p:nvPr/>
            </p:nvSpPr>
            <p:spPr>
              <a:xfrm>
                <a:off x="5562695" y="495828"/>
                <a:ext cx="1371628" cy="1294879"/>
              </a:xfrm>
              <a:prstGeom prst="ellipse">
                <a:avLst/>
              </a:prstGeom>
              <a:solidFill>
                <a:srgbClr val="C00000"/>
              </a:solidFill>
              <a:ln w="12700" cap="flat" cmpd="sng">
                <a:solidFill>
                  <a:srgbClr val="A9371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387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তি</a:t>
                </a:r>
                <a:endParaRPr sz="5387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51" name="Google Shape;351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19200" y="713404"/>
              <a:ext cx="1207795" cy="13544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6966387" y="675304"/>
              <a:ext cx="1207795" cy="13544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3" name="Google Shape;353;p2"/>
          <p:cNvGrpSpPr/>
          <p:nvPr/>
        </p:nvGrpSpPr>
        <p:grpSpPr>
          <a:xfrm>
            <a:off x="82882" y="1142246"/>
            <a:ext cx="5603058" cy="5746207"/>
            <a:chOff x="228601" y="1173750"/>
            <a:chExt cx="5616949" cy="5760450"/>
          </a:xfrm>
        </p:grpSpPr>
        <p:grpSp>
          <p:nvGrpSpPr>
            <p:cNvPr id="354" name="Google Shape;354;p2"/>
            <p:cNvGrpSpPr/>
            <p:nvPr/>
          </p:nvGrpSpPr>
          <p:grpSpPr>
            <a:xfrm>
              <a:off x="435350" y="1173750"/>
              <a:ext cx="5410200" cy="5410200"/>
              <a:chOff x="435350" y="1173750"/>
              <a:chExt cx="5410200" cy="5410200"/>
            </a:xfrm>
          </p:grpSpPr>
          <p:sp>
            <p:nvSpPr>
              <p:cNvPr id="355" name="Google Shape;355;p2"/>
              <p:cNvSpPr/>
              <p:nvPr/>
            </p:nvSpPr>
            <p:spPr>
              <a:xfrm rot="-5400000">
                <a:off x="-1524000" y="3764550"/>
                <a:ext cx="5410200" cy="228600"/>
              </a:xfrm>
              <a:prstGeom prst="mathMinus">
                <a:avLst>
                  <a:gd name="adj1" fmla="val 23520"/>
                </a:avLst>
              </a:prstGeom>
              <a:solidFill>
                <a:srgbClr val="FF0000"/>
              </a:solidFill>
              <a:ln w="12700" cap="flat" cmpd="sng">
                <a:solidFill>
                  <a:srgbClr val="A9371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95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2"/>
              <p:cNvSpPr/>
              <p:nvPr/>
            </p:nvSpPr>
            <p:spPr>
              <a:xfrm>
                <a:off x="435350" y="5791200"/>
                <a:ext cx="5410200" cy="228600"/>
              </a:xfrm>
              <a:prstGeom prst="mathMinus">
                <a:avLst>
                  <a:gd name="adj1" fmla="val 23520"/>
                </a:avLst>
              </a:prstGeom>
              <a:solidFill>
                <a:srgbClr val="FF0000"/>
              </a:solidFill>
              <a:ln w="12700" cap="flat" cmpd="sng">
                <a:solidFill>
                  <a:srgbClr val="A9371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95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357" name="Google Shape;357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3230339">
              <a:off x="631926" y="4548017"/>
              <a:ext cx="1971675" cy="2000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8" name="Google Shape;358;p2"/>
          <p:cNvGrpSpPr/>
          <p:nvPr/>
        </p:nvGrpSpPr>
        <p:grpSpPr>
          <a:xfrm rot="-5400000">
            <a:off x="6569853" y="1286938"/>
            <a:ext cx="5657635" cy="5546553"/>
            <a:chOff x="228601" y="1373896"/>
            <a:chExt cx="5671665" cy="5560304"/>
          </a:xfrm>
        </p:grpSpPr>
        <p:grpSp>
          <p:nvGrpSpPr>
            <p:cNvPr id="359" name="Google Shape;359;p2"/>
            <p:cNvGrpSpPr/>
            <p:nvPr/>
          </p:nvGrpSpPr>
          <p:grpSpPr>
            <a:xfrm>
              <a:off x="490066" y="1373896"/>
              <a:ext cx="5410200" cy="5410200"/>
              <a:chOff x="490066" y="1373896"/>
              <a:chExt cx="5410200" cy="5410200"/>
            </a:xfrm>
          </p:grpSpPr>
          <p:sp>
            <p:nvSpPr>
              <p:cNvPr id="360" name="Google Shape;360;p2"/>
              <p:cNvSpPr/>
              <p:nvPr/>
            </p:nvSpPr>
            <p:spPr>
              <a:xfrm rot="-5400000">
                <a:off x="-1523999" y="3964696"/>
                <a:ext cx="5410200" cy="228600"/>
              </a:xfrm>
              <a:prstGeom prst="mathMinus">
                <a:avLst>
                  <a:gd name="adj1" fmla="val 23520"/>
                </a:avLst>
              </a:prstGeom>
              <a:solidFill>
                <a:srgbClr val="FF0000"/>
              </a:solidFill>
              <a:ln w="12700" cap="flat" cmpd="sng">
                <a:solidFill>
                  <a:srgbClr val="A9371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95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2"/>
              <p:cNvSpPr/>
              <p:nvPr/>
            </p:nvSpPr>
            <p:spPr>
              <a:xfrm>
                <a:off x="490066" y="5900651"/>
                <a:ext cx="5410200" cy="228600"/>
              </a:xfrm>
              <a:prstGeom prst="mathMinus">
                <a:avLst>
                  <a:gd name="adj1" fmla="val 23520"/>
                </a:avLst>
              </a:prstGeom>
              <a:solidFill>
                <a:srgbClr val="FF0000"/>
              </a:solidFill>
              <a:ln w="12700" cap="flat" cmpd="sng">
                <a:solidFill>
                  <a:srgbClr val="A9371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95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362" name="Google Shape;362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3230339">
              <a:off x="631926" y="4548017"/>
              <a:ext cx="1971675" cy="2000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3" name="Google Shape;363;p2"/>
          <p:cNvSpPr txBox="1"/>
          <p:nvPr/>
        </p:nvSpPr>
        <p:spPr>
          <a:xfrm>
            <a:off x="2902535" y="2280380"/>
            <a:ext cx="7721100" cy="2308284"/>
          </a:xfrm>
          <a:prstGeom prst="rect">
            <a:avLst/>
          </a:prstGeom>
          <a:solidFill>
            <a:srgbClr val="FF967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0" i="0" u="none" strike="noStrike" cap="none" dirty="0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bn-BD" sz="3600" b="1" dirty="0">
                <a:latin typeface="SutonnyMJ" pitchFamily="2" charset="0"/>
              </a:rPr>
              <a:t>মোঃ আতিকুল ইসলাম </a:t>
            </a:r>
            <a:endParaRPr lang="en-US" sz="3600" b="1" dirty="0">
              <a:latin typeface="SutonnyMJ" pitchFamily="2" charset="0"/>
              <a:cs typeface="SutonnyMJ" pitchFamily="2" charset="0"/>
            </a:endParaRPr>
          </a:p>
          <a:p>
            <a:pPr lvl="0" algn="ctr"/>
            <a:r>
              <a:rPr lang="en-US" sz="3600" b="1" i="0" u="none" strike="noStrike" cap="none" dirty="0" err="1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সহকারি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শিক্ষক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(</a:t>
            </a:r>
            <a:r>
              <a:rPr lang="bn-BD" sz="3600" b="1" dirty="0">
                <a:latin typeface="SutonnyMJ" pitchFamily="2" charset="0"/>
              </a:rPr>
              <a:t>গণিত</a:t>
            </a:r>
            <a:r>
              <a:rPr lang="en-US" sz="3600" b="1" dirty="0">
                <a:latin typeface="SutonnyMJ" pitchFamily="2" charset="0"/>
                <a:cs typeface="SutonnyMJ" pitchFamily="2" charset="0"/>
              </a:rPr>
              <a:t>)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,</a:t>
            </a:r>
            <a:endParaRPr dirty="0">
              <a:latin typeface="SutonnyMJ" pitchFamily="2" charset="0"/>
              <a:cs typeface="SutonnyMJ" pitchFamily="2" charset="0"/>
            </a:endParaRPr>
          </a:p>
          <a:p>
            <a:pPr lvl="0" algn="ctr"/>
            <a:r>
              <a:rPr lang="bn-BD" sz="3600" b="1" dirty="0">
                <a:latin typeface="SutonnyMJ" pitchFamily="2" charset="0"/>
              </a:rPr>
              <a:t>উত্তর শ্রীরামপুর মাধ্যমিক</a:t>
            </a:r>
            <a:r>
              <a:rPr lang="en-US" sz="36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b="1" i="0" u="none" strike="noStrike" cap="none" dirty="0" err="1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বিদ্যালয়</a:t>
            </a:r>
            <a:endParaRPr dirty="0">
              <a:latin typeface="SutonnyMJ" pitchFamily="2" charset="0"/>
              <a:cs typeface="SutonnyMJ" pitchFamily="2" charset="0"/>
            </a:endParaRPr>
          </a:p>
          <a:p>
            <a:pPr lvl="0" algn="ctr"/>
            <a:r>
              <a:rPr lang="bn-BD" sz="3600" b="1" dirty="0">
                <a:latin typeface="SutonnyMJ" pitchFamily="2" charset="0"/>
              </a:rPr>
              <a:t>দুমকি</a:t>
            </a:r>
            <a:r>
              <a:rPr lang="en-US" sz="3600" b="1" dirty="0">
                <a:latin typeface="SutonnyMJ" pitchFamily="2" charset="0"/>
                <a:cs typeface="SutonnyMJ" pitchFamily="2" charset="0"/>
              </a:rPr>
              <a:t>,</a:t>
            </a:r>
            <a:r>
              <a:rPr lang="bn-BD" sz="3600" b="1" dirty="0">
                <a:latin typeface="SutonnyMJ" pitchFamily="2" charset="0"/>
              </a:rPr>
              <a:t> পটুয়াখালী 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।</a:t>
            </a:r>
            <a:endParaRPr sz="3600" b="1" i="0" u="none" strike="noStrike" cap="none" dirty="0">
              <a:solidFill>
                <a:srgbClr val="000000"/>
              </a:solidFill>
              <a:latin typeface="SutonnyMJ" pitchFamily="2" charset="0"/>
              <a:cs typeface="SutonnyMJ" pitchFamily="2" charset="0"/>
              <a:sym typeface="Arial"/>
            </a:endParaRPr>
          </a:p>
        </p:txBody>
      </p:sp>
      <p:sp>
        <p:nvSpPr>
          <p:cNvPr id="364" name="Google Shape;364;p2"/>
          <p:cNvSpPr/>
          <p:nvPr/>
        </p:nvSpPr>
        <p:spPr>
          <a:xfrm>
            <a:off x="8229599" y="6141830"/>
            <a:ext cx="3139389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"/>
          <p:cNvSpPr/>
          <p:nvPr/>
        </p:nvSpPr>
        <p:spPr>
          <a:xfrm>
            <a:off x="989939" y="6175168"/>
            <a:ext cx="3139389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3"/>
          <p:cNvGrpSpPr/>
          <p:nvPr/>
        </p:nvGrpSpPr>
        <p:grpSpPr>
          <a:xfrm>
            <a:off x="1017379" y="459603"/>
            <a:ext cx="9982200" cy="2699726"/>
            <a:chOff x="1017379" y="459603"/>
            <a:chExt cx="9982200" cy="2699726"/>
          </a:xfrm>
        </p:grpSpPr>
        <p:grpSp>
          <p:nvGrpSpPr>
            <p:cNvPr id="371" name="Google Shape;371;p3"/>
            <p:cNvGrpSpPr/>
            <p:nvPr/>
          </p:nvGrpSpPr>
          <p:grpSpPr>
            <a:xfrm>
              <a:off x="1017379" y="459603"/>
              <a:ext cx="9982200" cy="2678963"/>
              <a:chOff x="975519" y="457305"/>
              <a:chExt cx="9982200" cy="2678963"/>
            </a:xfrm>
          </p:grpSpPr>
          <p:grpSp>
            <p:nvGrpSpPr>
              <p:cNvPr id="372" name="Google Shape;372;p3"/>
              <p:cNvGrpSpPr/>
              <p:nvPr/>
            </p:nvGrpSpPr>
            <p:grpSpPr>
              <a:xfrm>
                <a:off x="975519" y="926484"/>
                <a:ext cx="9982200" cy="1359516"/>
                <a:chOff x="1925782" y="2200543"/>
                <a:chExt cx="9982200" cy="1359516"/>
              </a:xfrm>
            </p:grpSpPr>
            <p:grpSp>
              <p:nvGrpSpPr>
                <p:cNvPr id="373" name="Google Shape;373;p3"/>
                <p:cNvGrpSpPr/>
                <p:nvPr/>
              </p:nvGrpSpPr>
              <p:grpSpPr>
                <a:xfrm>
                  <a:off x="1925782" y="2200543"/>
                  <a:ext cx="9982200" cy="1352550"/>
                  <a:chOff x="274035" y="457744"/>
                  <a:chExt cx="9982406" cy="1352006"/>
                </a:xfrm>
              </p:grpSpPr>
              <p:grpSp>
                <p:nvGrpSpPr>
                  <p:cNvPr id="374" name="Google Shape;374;p3"/>
                  <p:cNvGrpSpPr/>
                  <p:nvPr/>
                </p:nvGrpSpPr>
                <p:grpSpPr>
                  <a:xfrm>
                    <a:off x="274035" y="869057"/>
                    <a:ext cx="9982406" cy="304679"/>
                    <a:chOff x="502635" y="1402457"/>
                    <a:chExt cx="9982406" cy="304679"/>
                  </a:xfrm>
                </p:grpSpPr>
                <p:sp>
                  <p:nvSpPr>
                    <p:cNvPr id="375" name="Google Shape;375;p3"/>
                    <p:cNvSpPr/>
                    <p:nvPr/>
                  </p:nvSpPr>
                  <p:spPr>
                    <a:xfrm rot="10800000" flipH="1">
                      <a:off x="502635" y="1402457"/>
                      <a:ext cx="9982406" cy="74546"/>
                    </a:xfrm>
                    <a:prstGeom prst="rect">
                      <a:avLst/>
                    </a:prstGeom>
                    <a:solidFill>
                      <a:srgbClr val="002060"/>
                    </a:solidFill>
                    <a:ln w="19050" cap="flat" cmpd="sng">
                      <a:solidFill>
                        <a:srgbClr val="A5206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rgbClr val="FFFFFF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  <p:sp>
                  <p:nvSpPr>
                    <p:cNvPr id="376" name="Google Shape;376;p3"/>
                    <p:cNvSpPr/>
                    <p:nvPr/>
                  </p:nvSpPr>
                  <p:spPr>
                    <a:xfrm rot="10800000" flipH="1">
                      <a:off x="502635" y="1630963"/>
                      <a:ext cx="9982406" cy="76173"/>
                    </a:xfrm>
                    <a:prstGeom prst="rect">
                      <a:avLst/>
                    </a:prstGeom>
                    <a:solidFill>
                      <a:srgbClr val="002060"/>
                    </a:solidFill>
                    <a:ln w="19050" cap="flat" cmpd="sng">
                      <a:solidFill>
                        <a:srgbClr val="A5206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rgbClr val="FFFFFF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</p:grpSp>
              <p:sp>
                <p:nvSpPr>
                  <p:cNvPr id="377" name="Google Shape;377;p3"/>
                  <p:cNvSpPr/>
                  <p:nvPr/>
                </p:nvSpPr>
                <p:spPr>
                  <a:xfrm rot="10800000" flipH="1">
                    <a:off x="274035" y="1327697"/>
                    <a:ext cx="9982406" cy="74544"/>
                  </a:xfrm>
                  <a:prstGeom prst="rect">
                    <a:avLst/>
                  </a:prstGeom>
                  <a:solidFill>
                    <a:srgbClr val="002060"/>
                  </a:solidFill>
                  <a:ln w="19050" cap="flat" cmpd="sng">
                    <a:solidFill>
                      <a:srgbClr val="A5206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378" name="Google Shape;378;p3"/>
                  <p:cNvSpPr/>
                  <p:nvPr/>
                </p:nvSpPr>
                <p:spPr>
                  <a:xfrm>
                    <a:off x="1905019" y="514871"/>
                    <a:ext cx="1371628" cy="1294879"/>
                  </a:xfrm>
                  <a:prstGeom prst="ellipse">
                    <a:avLst/>
                  </a:prstGeom>
                  <a:solidFill>
                    <a:srgbClr val="002060"/>
                  </a:solidFill>
                  <a:ln w="19050" cap="flat" cmpd="sng">
                    <a:solidFill>
                      <a:srgbClr val="A5206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5400" b="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প</a:t>
                    </a:r>
                    <a:r>
                      <a:rPr lang="en-US" sz="5400" b="0" i="0" u="none" strike="noStrike" cap="none">
                        <a:solidFill>
                          <a:srgbClr val="FFFFFF"/>
                        </a:solidFill>
                        <a:latin typeface="Corbel"/>
                        <a:ea typeface="Corbel"/>
                        <a:cs typeface="Corbel"/>
                        <a:sym typeface="Corbel"/>
                      </a:rPr>
                      <a:t> </a:t>
                    </a:r>
                    <a:endParaRPr sz="5400" b="0" i="0" u="none" strike="noStrike" cap="none">
                      <a:solidFill>
                        <a:srgbClr val="FFFFFF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379" name="Google Shape;379;p3"/>
                  <p:cNvSpPr/>
                  <p:nvPr/>
                </p:nvSpPr>
                <p:spPr>
                  <a:xfrm>
                    <a:off x="3124244" y="495828"/>
                    <a:ext cx="1371628" cy="1294879"/>
                  </a:xfrm>
                  <a:prstGeom prst="ellipse">
                    <a:avLst/>
                  </a:prstGeom>
                  <a:solidFill>
                    <a:srgbClr val="002060"/>
                  </a:solidFill>
                  <a:ln w="19050" cap="flat" cmpd="sng">
                    <a:solidFill>
                      <a:srgbClr val="A5206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5400" b="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রি</a:t>
                    </a:r>
                    <a:endParaRPr sz="5400" b="0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3"/>
                  <p:cNvSpPr/>
                  <p:nvPr/>
                </p:nvSpPr>
                <p:spPr>
                  <a:xfrm>
                    <a:off x="4343470" y="457744"/>
                    <a:ext cx="1371628" cy="1294879"/>
                  </a:xfrm>
                  <a:prstGeom prst="ellipse">
                    <a:avLst/>
                  </a:prstGeom>
                  <a:solidFill>
                    <a:srgbClr val="002060"/>
                  </a:solidFill>
                  <a:ln w="19050" cap="flat" cmpd="sng">
                    <a:solidFill>
                      <a:srgbClr val="A5206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5400" b="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চি</a:t>
                    </a:r>
                    <a:endParaRPr sz="5400" b="0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3"/>
                  <p:cNvSpPr/>
                  <p:nvPr/>
                </p:nvSpPr>
                <p:spPr>
                  <a:xfrm>
                    <a:off x="5562695" y="495828"/>
                    <a:ext cx="1371628" cy="1294879"/>
                  </a:xfrm>
                  <a:prstGeom prst="ellipse">
                    <a:avLst/>
                  </a:prstGeom>
                  <a:solidFill>
                    <a:srgbClr val="002060"/>
                  </a:solidFill>
                  <a:ln w="19050" cap="flat" cmpd="sng">
                    <a:solidFill>
                      <a:srgbClr val="A5206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5400" b="0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তি</a:t>
                    </a:r>
                    <a:endParaRPr sz="5400" b="0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82" name="Google Shape;382;p3"/>
                <p:cNvSpPr/>
                <p:nvPr/>
              </p:nvSpPr>
              <p:spPr>
                <a:xfrm>
                  <a:off x="2337532" y="2264659"/>
                  <a:ext cx="1371599" cy="1295400"/>
                </a:xfrm>
                <a:prstGeom prst="ellipse">
                  <a:avLst/>
                </a:prstGeom>
                <a:solidFill>
                  <a:srgbClr val="00B0F0"/>
                </a:solidFill>
                <a:ln w="19050" cap="flat" cmpd="sng">
                  <a:solidFill>
                    <a:srgbClr val="A5206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5400" b="0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পাঠ</a:t>
                  </a:r>
                  <a:r>
                    <a:rPr lang="en-US" sz="5400" b="0" i="0" u="none" strike="noStrike" cap="none">
                      <a:solidFill>
                        <a:srgbClr val="FFFFFF"/>
                      </a:solidFill>
                      <a:latin typeface="Corbel"/>
                      <a:ea typeface="Corbel"/>
                      <a:cs typeface="Corbel"/>
                      <a:sym typeface="Corbel"/>
                    </a:rPr>
                    <a:t> </a:t>
                  </a:r>
                  <a:endParaRPr sz="5400" b="0" i="0" u="none" strike="noStrike" cap="none">
                    <a:solidFill>
                      <a:srgbClr val="FFFFFF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pic>
            <p:nvPicPr>
              <p:cNvPr id="383" name="Google Shape;383;p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46902" y="457305"/>
                <a:ext cx="1998592" cy="26789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84" name="Google Shape;384;p3"/>
            <p:cNvPicPr preferRelativeResize="0"/>
            <p:nvPr/>
          </p:nvPicPr>
          <p:blipFill rotWithShape="1">
            <a:blip r:embed="rId4">
              <a:alphaModFix/>
            </a:blip>
            <a:srcRect l="5556" t="8889" r="5555" b="8889"/>
            <a:stretch/>
          </p:blipFill>
          <p:spPr>
            <a:xfrm>
              <a:off x="8331083" y="459603"/>
              <a:ext cx="2188967" cy="2699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5" name="Google Shape;385;p3"/>
          <p:cNvSpPr txBox="1"/>
          <p:nvPr/>
        </p:nvSpPr>
        <p:spPr>
          <a:xfrm>
            <a:off x="2800728" y="2993294"/>
            <a:ext cx="5226908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শ্রেণি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পঞ্চম</a:t>
            </a:r>
            <a:endParaRPr sz="4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বিষয়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প্রাথমিক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গণিত</a:t>
            </a:r>
            <a:endParaRPr sz="4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অধ্যায়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৮ ( </a:t>
            </a: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গড়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)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সময়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4400" b="1" dirty="0">
                <a:latin typeface="SutonnyMJ" pitchFamily="2" charset="0"/>
                <a:cs typeface="SutonnyMJ" pitchFamily="2" charset="0"/>
              </a:rPr>
              <a:t>60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মিনিট</a:t>
            </a:r>
            <a:endParaRPr sz="4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"/>
          <p:cNvSpPr/>
          <p:nvPr/>
        </p:nvSpPr>
        <p:spPr>
          <a:xfrm>
            <a:off x="8617405" y="6191312"/>
            <a:ext cx="3139389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7" name="Google Shape;387;p3"/>
          <p:cNvSpPr/>
          <p:nvPr/>
        </p:nvSpPr>
        <p:spPr>
          <a:xfrm>
            <a:off x="435207" y="6298886"/>
            <a:ext cx="3139389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"/>
          <p:cNvGrpSpPr/>
          <p:nvPr/>
        </p:nvGrpSpPr>
        <p:grpSpPr>
          <a:xfrm>
            <a:off x="2414587" y="1843088"/>
            <a:ext cx="8543926" cy="4382652"/>
            <a:chOff x="1042987" y="629131"/>
            <a:chExt cx="9586912" cy="5619406"/>
          </a:xfrm>
        </p:grpSpPr>
        <p:pic>
          <p:nvPicPr>
            <p:cNvPr id="393" name="Google Shape;393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42987" y="629131"/>
              <a:ext cx="9586912" cy="56194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4"/>
            <p:cNvSpPr txBox="1"/>
            <p:nvPr/>
          </p:nvSpPr>
          <p:spPr>
            <a:xfrm>
              <a:off x="2828923" y="3741243"/>
              <a:ext cx="6015038" cy="1287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গড় </a:t>
              </a:r>
              <a:endParaRPr/>
            </a:p>
          </p:txBody>
        </p:sp>
      </p:grpSp>
      <p:sp>
        <p:nvSpPr>
          <p:cNvPr id="395" name="Google Shape;395;p4"/>
          <p:cNvSpPr txBox="1"/>
          <p:nvPr/>
        </p:nvSpPr>
        <p:spPr>
          <a:xfrm>
            <a:off x="2538894" y="821269"/>
            <a:ext cx="711421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7200" b="1" i="0" u="none" strike="noStrike" cap="none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আজকে</a:t>
            </a:r>
            <a:r>
              <a:rPr lang="en-US" sz="7200" b="1" i="0" u="none" strike="noStrike" cap="none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7200" b="1" i="0" u="none" strike="noStrike" cap="none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আমরা</a:t>
            </a:r>
            <a:r>
              <a:rPr lang="en-US" sz="7200" b="1" i="0" u="none" strike="noStrike" cap="none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72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</a:rPr>
              <a:t>wkLe</a:t>
            </a:r>
            <a:r>
              <a:rPr lang="en-US" sz="7200" b="1" i="0" u="none" strike="noStrike" cap="none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 </a:t>
            </a:r>
            <a:endParaRPr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396" name="Google Shape;396;p4"/>
          <p:cNvSpPr/>
          <p:nvPr/>
        </p:nvSpPr>
        <p:spPr>
          <a:xfrm>
            <a:off x="3175416" y="6356724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"/>
          <p:cNvSpPr txBox="1"/>
          <p:nvPr/>
        </p:nvSpPr>
        <p:spPr>
          <a:xfrm>
            <a:off x="1300163" y="2239061"/>
            <a:ext cx="744595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buClr>
                <a:schemeClr val="dk1"/>
              </a:buClr>
              <a:buSzPts val="3600"/>
              <a:buFont typeface="Noto Sans Symbols"/>
              <a:buChar char="❖"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১. 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গড়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কী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তা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বলতে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পারবে</a:t>
            </a:r>
            <a:r>
              <a:rPr lang="en-US" sz="3600" b="1" dirty="0">
                <a:solidFill>
                  <a:schemeClr val="dk1"/>
                </a:solidFill>
              </a:rPr>
              <a:t> । 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"/>
          <p:cNvSpPr txBox="1"/>
          <p:nvPr/>
        </p:nvSpPr>
        <p:spPr>
          <a:xfrm>
            <a:off x="1300163" y="2823836"/>
            <a:ext cx="76809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buClr>
                <a:schemeClr val="dk1"/>
              </a:buClr>
              <a:buSzPts val="3600"/>
              <a:buFont typeface="Noto Sans Symbols"/>
              <a:buChar char="❖"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২. 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গড়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নির্ণয়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করতে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পারবে</a:t>
            </a:r>
            <a:r>
              <a:rPr lang="en-US" sz="3600" b="1" dirty="0">
                <a:solidFill>
                  <a:schemeClr val="dk1"/>
                </a:solidFill>
              </a:rPr>
              <a:t> । 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"/>
          <p:cNvSpPr txBox="1"/>
          <p:nvPr/>
        </p:nvSpPr>
        <p:spPr>
          <a:xfrm>
            <a:off x="3968832" y="472952"/>
            <a:ext cx="425433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শিখনফল</a:t>
            </a:r>
            <a:r>
              <a:rPr lang="en-US" sz="6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dirty="0"/>
          </a:p>
        </p:txBody>
      </p:sp>
      <p:sp>
        <p:nvSpPr>
          <p:cNvPr id="404" name="Google Shape;404;p5"/>
          <p:cNvSpPr txBox="1"/>
          <p:nvPr/>
        </p:nvSpPr>
        <p:spPr>
          <a:xfrm>
            <a:off x="1300163" y="3481951"/>
            <a:ext cx="882915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❖"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৩.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গড়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সম্পর্কিত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সহজ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সমস্যার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সমাধান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করতে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পারবে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।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"/>
          <p:cNvSpPr txBox="1"/>
          <p:nvPr/>
        </p:nvSpPr>
        <p:spPr>
          <a:xfrm>
            <a:off x="1114123" y="1654286"/>
            <a:ext cx="673001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এই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পাঠ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শেষে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শিক্ষার্থীরা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.......... 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5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10/17/2025</a:t>
            </a:r>
            <a:endParaRPr sz="2000" b="1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7" name="Google Shape;407;p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</a:t>
            </a:fld>
            <a:endParaRPr sz="2000" b="1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8" name="Google Shape;408;p5"/>
          <p:cNvSpPr/>
          <p:nvPr/>
        </p:nvSpPr>
        <p:spPr>
          <a:xfrm>
            <a:off x="1625108" y="6367480"/>
            <a:ext cx="8559384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"/>
          <p:cNvSpPr/>
          <p:nvPr/>
        </p:nvSpPr>
        <p:spPr>
          <a:xfrm>
            <a:off x="2395159" y="904497"/>
            <a:ext cx="6841863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6000" b="1" dirty="0">
                <a:latin typeface="SutonnyMJ" pitchFamily="2" charset="0"/>
                <a:cs typeface="SutonnyMJ" pitchFamily="2" charset="0"/>
              </a:rPr>
              <a:t>Mo </a:t>
            </a:r>
            <a:r>
              <a:rPr lang="en-US" sz="6000" b="1" dirty="0" err="1">
                <a:latin typeface="SutonnyMJ" pitchFamily="2" charset="0"/>
                <a:cs typeface="SutonnyMJ" pitchFamily="2" charset="0"/>
              </a:rPr>
              <a:t>ej‡Z</a:t>
            </a:r>
            <a:r>
              <a:rPr lang="en-US" sz="6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b="1" dirty="0" err="1">
                <a:latin typeface="SutonnyMJ" pitchFamily="2" charset="0"/>
                <a:cs typeface="SutonnyMJ" pitchFamily="2" charset="0"/>
              </a:rPr>
              <a:t>wK</a:t>
            </a:r>
            <a:r>
              <a:rPr lang="en-US" sz="6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b="1" dirty="0" err="1">
                <a:latin typeface="SutonnyMJ" pitchFamily="2" charset="0"/>
                <a:cs typeface="SutonnyMJ" pitchFamily="2" charset="0"/>
              </a:rPr>
              <a:t>eySvq</a:t>
            </a:r>
            <a:r>
              <a:rPr lang="en-US" sz="6000" b="1" dirty="0">
                <a:latin typeface="SutonnyMJ" pitchFamily="2" charset="0"/>
                <a:cs typeface="SutonnyMJ" pitchFamily="2" charset="0"/>
              </a:rPr>
              <a:t> ?</a:t>
            </a:r>
            <a:endParaRPr sz="6000" b="1" i="0" u="none" strike="noStrike" cap="none" dirty="0">
              <a:solidFill>
                <a:srgbClr val="000000"/>
              </a:solidFill>
              <a:latin typeface="SutonnyMJ" pitchFamily="2" charset="0"/>
              <a:cs typeface="SutonnyMJ" pitchFamily="2" charset="0"/>
              <a:sym typeface="Arial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707808" y="2664248"/>
            <a:ext cx="10776384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400" b="1" dirty="0" err="1">
                <a:latin typeface="SutonnyMJ" pitchFamily="2" charset="0"/>
                <a:cs typeface="SutonnyMJ" pitchFamily="2" charset="0"/>
              </a:rPr>
              <a:t>DËi</a:t>
            </a:r>
            <a:r>
              <a:rPr lang="en-US" sz="4400" b="1" dirty="0">
                <a:latin typeface="SutonnyMJ" pitchFamily="2" charset="0"/>
                <a:cs typeface="SutonnyMJ" pitchFamily="2" charset="0"/>
              </a:rPr>
              <a:t> : </a:t>
            </a:r>
            <a:r>
              <a:rPr lang="bn-BD" sz="4400" b="1" dirty="0">
                <a:latin typeface="SutonnyMJ" pitchFamily="2" charset="0"/>
                <a:cs typeface="SutonnyMJ" pitchFamily="2" charset="0"/>
              </a:rPr>
              <a:t>এক জাতীয় একাধিক রাশির </a:t>
            </a:r>
            <a:r>
              <a:rPr lang="bn-BD" sz="4400" b="1" dirty="0"/>
              <a:t>যোগফল</a:t>
            </a:r>
            <a:r>
              <a:rPr lang="bn-BD" sz="4400" b="1" dirty="0">
                <a:latin typeface="SutonnyMJ" pitchFamily="2" charset="0"/>
                <a:cs typeface="SutonnyMJ" pitchFamily="2" charset="0"/>
              </a:rPr>
              <a:t>কে উক্ত রাশিগুলোর মোট সংখ্যা দ্বারা ভাগ করলে যে ভাগফল পাওয়া যায় তাকে ঐ রাশিগুলোর গড় বলে।</a:t>
            </a:r>
            <a:endParaRPr lang="en-US" sz="6000" b="1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423" name="Google Shape;423;p7"/>
          <p:cNvSpPr/>
          <p:nvPr/>
        </p:nvSpPr>
        <p:spPr>
          <a:xfrm>
            <a:off x="3175416" y="6356724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"/>
          <p:cNvSpPr/>
          <p:nvPr/>
        </p:nvSpPr>
        <p:spPr>
          <a:xfrm>
            <a:off x="1229767" y="2501170"/>
            <a:ext cx="930575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গড়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রাশিগুলোর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যোগফল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÷ </a:t>
            </a: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রাশিগুলোর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সংখ্যা</a:t>
            </a:r>
            <a:endParaRPr sz="4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"/>
          <p:cNvSpPr/>
          <p:nvPr/>
        </p:nvSpPr>
        <p:spPr>
          <a:xfrm>
            <a:off x="3014711" y="1178540"/>
            <a:ext cx="573586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গড়</a:t>
            </a:r>
            <a:r>
              <a:rPr lang="en-US" sz="6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6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নির্ণয়ের</a:t>
            </a:r>
            <a:r>
              <a:rPr lang="en-US" sz="6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6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সূত্র</a:t>
            </a:r>
            <a:r>
              <a:rPr lang="en-US" sz="6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6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কী</a:t>
            </a:r>
            <a:r>
              <a:rPr lang="en-US" sz="6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?</a:t>
            </a:r>
            <a:endParaRPr sz="1200" dirty="0"/>
          </a:p>
        </p:txBody>
      </p:sp>
      <p:sp>
        <p:nvSpPr>
          <p:cNvPr id="415" name="Google Shape;415;p6"/>
          <p:cNvSpPr/>
          <p:nvPr/>
        </p:nvSpPr>
        <p:spPr>
          <a:xfrm>
            <a:off x="3175416" y="6367482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6D9F4AFC-FDAB-34A8-F71D-131F1873A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">
            <a:extLst>
              <a:ext uri="{FF2B5EF4-FFF2-40B4-BE49-F238E27FC236}">
                <a16:creationId xmlns:a16="http://schemas.microsoft.com/office/drawing/2014/main" id="{91A90A83-CAFF-EF5A-74E7-4F254930F53F}"/>
              </a:ext>
            </a:extLst>
          </p:cNvPr>
          <p:cNvSpPr/>
          <p:nvPr/>
        </p:nvSpPr>
        <p:spPr>
          <a:xfrm>
            <a:off x="1152666" y="1717218"/>
            <a:ext cx="930575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bn-BD" sz="4400" b="1" dirty="0">
                <a:latin typeface="SutonnyMJ" pitchFamily="2" charset="0"/>
                <a:cs typeface="SutonnyMJ" pitchFamily="2" charset="0"/>
              </a:rPr>
              <a:t>৯,</a:t>
            </a:r>
            <a:r>
              <a:rPr lang="en-US" sz="44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bn-BD" sz="4400" b="1" dirty="0">
                <a:latin typeface="SutonnyMJ" pitchFamily="2" charset="0"/>
                <a:cs typeface="SutonnyMJ" pitchFamily="2" charset="0"/>
              </a:rPr>
              <a:t>৬,</a:t>
            </a:r>
            <a:r>
              <a:rPr lang="en-US" sz="44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bn-BD" sz="4400" b="1" dirty="0">
                <a:latin typeface="SutonnyMJ" pitchFamily="2" charset="0"/>
                <a:cs typeface="SutonnyMJ" pitchFamily="2" charset="0"/>
              </a:rPr>
              <a:t>৪,</a:t>
            </a:r>
            <a:r>
              <a:rPr lang="en-US" sz="44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bn-BD" sz="4400" b="1" dirty="0">
                <a:latin typeface="SutonnyMJ" pitchFamily="2" charset="0"/>
                <a:cs typeface="SutonnyMJ" pitchFamily="2" charset="0"/>
              </a:rPr>
              <a:t>৫,</a:t>
            </a:r>
            <a:r>
              <a:rPr lang="en-US" sz="44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bn-BD" sz="4400" b="1" dirty="0">
                <a:latin typeface="SutonnyMJ" pitchFamily="2" charset="0"/>
                <a:cs typeface="SutonnyMJ" pitchFamily="2" charset="0"/>
              </a:rPr>
              <a:t>২  রাশিগুলোর গড় নির্ণয় কর।</a:t>
            </a:r>
            <a:endParaRPr sz="4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6">
            <a:extLst>
              <a:ext uri="{FF2B5EF4-FFF2-40B4-BE49-F238E27FC236}">
                <a16:creationId xmlns:a16="http://schemas.microsoft.com/office/drawing/2014/main" id="{7E7650A6-ED0A-D9E8-8281-E366665D1A6B}"/>
              </a:ext>
            </a:extLst>
          </p:cNvPr>
          <p:cNvSpPr/>
          <p:nvPr/>
        </p:nvSpPr>
        <p:spPr>
          <a:xfrm>
            <a:off x="3175416" y="6367482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Google Shape;453;p11">
            <a:extLst>
              <a:ext uri="{FF2B5EF4-FFF2-40B4-BE49-F238E27FC236}">
                <a16:creationId xmlns:a16="http://schemas.microsoft.com/office/drawing/2014/main" id="{301C27FC-BE66-D5EF-6532-DF067D18F63F}"/>
              </a:ext>
            </a:extLst>
          </p:cNvPr>
          <p:cNvSpPr/>
          <p:nvPr/>
        </p:nvSpPr>
        <p:spPr>
          <a:xfrm>
            <a:off x="3008486" y="712767"/>
            <a:ext cx="5226111" cy="923289"/>
          </a:xfrm>
          <a:prstGeom prst="rect">
            <a:avLst/>
          </a:prstGeom>
          <a:solidFill>
            <a:srgbClr val="EE80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সমস্যা</a:t>
            </a:r>
            <a:r>
              <a:rPr lang="en-US" sz="5400" b="1" dirty="0">
                <a:latin typeface="SutonnyMJ" pitchFamily="2" charset="0"/>
                <a:cs typeface="SutonnyMJ" pitchFamily="2" charset="0"/>
              </a:rPr>
              <a:t>-1</a:t>
            </a:r>
            <a:endParaRPr sz="5400" b="1" dirty="0">
              <a:solidFill>
                <a:srgbClr val="000000"/>
              </a:solidFill>
              <a:latin typeface="SutonnyMJ" pitchFamily="2" charset="0"/>
              <a:cs typeface="SutonnyMJ" pitchFamily="2" charset="0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AE24E4C-9244-A19C-A0EE-504EED41EBB2}"/>
              </a:ext>
            </a:extLst>
          </p:cNvPr>
          <p:cNvSpPr txBox="1">
            <a:spLocks/>
          </p:cNvSpPr>
          <p:nvPr/>
        </p:nvSpPr>
        <p:spPr>
          <a:xfrm>
            <a:off x="1362635" y="2486619"/>
            <a:ext cx="9875520" cy="365861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bn-BD" sz="3200" b="1" dirty="0"/>
              <a:t>সমাধান : </a:t>
            </a:r>
            <a:br>
              <a:rPr lang="en-US" sz="3200" b="1" dirty="0"/>
            </a:br>
            <a:r>
              <a:rPr lang="bn-BD" sz="3200" b="1" dirty="0"/>
              <a:t>রাশিগুলোর যোগফল = </a:t>
            </a:r>
            <a:r>
              <a:rPr lang="en-US" sz="3200" b="1" dirty="0">
                <a:latin typeface="SutonnyMJ" pitchFamily="2" charset="0"/>
                <a:cs typeface="SutonnyMJ" pitchFamily="2" charset="0"/>
              </a:rPr>
              <a:t>9+ 6 + 4+ 5+ 2</a:t>
            </a:r>
            <a:br>
              <a:rPr lang="en-US" sz="3200" b="1" dirty="0">
                <a:latin typeface="SutonnyMJ" pitchFamily="2" charset="0"/>
                <a:cs typeface="SutonnyMJ" pitchFamily="2" charset="0"/>
              </a:rPr>
            </a:br>
            <a:r>
              <a:rPr lang="en-US" sz="3200" b="1" dirty="0">
                <a:latin typeface="SutonnyMJ" pitchFamily="2" charset="0"/>
                <a:cs typeface="SutonnyMJ" pitchFamily="2" charset="0"/>
              </a:rPr>
              <a:t>=24</a:t>
            </a:r>
            <a:br>
              <a:rPr lang="en-US" sz="3200" b="1" dirty="0">
                <a:latin typeface="SutonnyMJ" pitchFamily="2" charset="0"/>
                <a:cs typeface="SutonnyMJ" pitchFamily="2" charset="0"/>
              </a:rPr>
            </a:br>
            <a:r>
              <a:rPr lang="en-US" sz="3200" b="1" dirty="0" err="1">
                <a:latin typeface="SutonnyMJ" pitchFamily="2" charset="0"/>
                <a:cs typeface="SutonnyMJ" pitchFamily="2" charset="0"/>
              </a:rPr>
              <a:t>ivwk</a:t>
            </a:r>
            <a:r>
              <a:rPr lang="en-US" sz="3200" b="1" dirty="0">
                <a:latin typeface="SutonnyMJ" pitchFamily="2" charset="0"/>
                <a:cs typeface="SutonnyMJ" pitchFamily="2" charset="0"/>
              </a:rPr>
              <a:t>¸‡</a:t>
            </a:r>
            <a:r>
              <a:rPr lang="en-US" sz="3200" b="1" dirty="0" err="1">
                <a:latin typeface="SutonnyMJ" pitchFamily="2" charset="0"/>
                <a:cs typeface="SutonnyMJ" pitchFamily="2" charset="0"/>
              </a:rPr>
              <a:t>jvi</a:t>
            </a:r>
            <a:r>
              <a:rPr lang="en-US" sz="32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b="1" dirty="0" err="1">
                <a:latin typeface="SutonnyMJ" pitchFamily="2" charset="0"/>
                <a:cs typeface="SutonnyMJ" pitchFamily="2" charset="0"/>
              </a:rPr>
              <a:t>msLv</a:t>
            </a:r>
            <a:r>
              <a:rPr lang="en-US" sz="3200" b="1" dirty="0">
                <a:latin typeface="SutonnyMJ" pitchFamily="2" charset="0"/>
                <a:cs typeface="SutonnyMJ" pitchFamily="2" charset="0"/>
              </a:rPr>
              <a:t> = 5</a:t>
            </a:r>
            <a:br>
              <a:rPr lang="en-US" sz="3200" b="1" dirty="0">
                <a:latin typeface="SutonnyMJ" pitchFamily="2" charset="0"/>
                <a:cs typeface="SutonnyMJ" pitchFamily="2" charset="0"/>
              </a:rPr>
            </a:br>
            <a:r>
              <a:rPr lang="en-US" sz="3200" b="1" dirty="0">
                <a:latin typeface="SutonnyMJ" pitchFamily="2" charset="0"/>
                <a:cs typeface="SutonnyMJ" pitchFamily="2" charset="0"/>
              </a:rPr>
              <a:t>∴ Mo = </a:t>
            </a:r>
            <a:r>
              <a:rPr lang="en-US" sz="3200" b="1" dirty="0" err="1">
                <a:latin typeface="SutonnyMJ" pitchFamily="2" charset="0"/>
                <a:cs typeface="SutonnyMJ" pitchFamily="2" charset="0"/>
              </a:rPr>
              <a:t>ivwk</a:t>
            </a:r>
            <a:r>
              <a:rPr lang="en-US" sz="3200" b="1" dirty="0">
                <a:latin typeface="SutonnyMJ" pitchFamily="2" charset="0"/>
                <a:cs typeface="SutonnyMJ" pitchFamily="2" charset="0"/>
              </a:rPr>
              <a:t>¸‡</a:t>
            </a:r>
            <a:r>
              <a:rPr lang="en-US" sz="3200" b="1" dirty="0" err="1">
                <a:latin typeface="SutonnyMJ" pitchFamily="2" charset="0"/>
                <a:cs typeface="SutonnyMJ" pitchFamily="2" charset="0"/>
              </a:rPr>
              <a:t>jvi</a:t>
            </a:r>
            <a:r>
              <a:rPr lang="en-US" sz="3200" b="1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3200" b="1" dirty="0" err="1">
                <a:latin typeface="SutonnyMJ" pitchFamily="2" charset="0"/>
                <a:cs typeface="SutonnyMJ" pitchFamily="2" charset="0"/>
              </a:rPr>
              <a:t>hvMdj</a:t>
            </a:r>
            <a:r>
              <a:rPr lang="en-US" sz="3200" b="1" dirty="0">
                <a:latin typeface="SutonnyMJ" pitchFamily="2" charset="0"/>
                <a:cs typeface="SutonnyMJ" pitchFamily="2" charset="0"/>
              </a:rPr>
              <a:t> ÷ </a:t>
            </a:r>
            <a:r>
              <a:rPr lang="en-US" sz="3200" b="1" dirty="0" err="1">
                <a:latin typeface="SutonnyMJ" pitchFamily="2" charset="0"/>
                <a:cs typeface="SutonnyMJ" pitchFamily="2" charset="0"/>
              </a:rPr>
              <a:t>ivwk</a:t>
            </a:r>
            <a:r>
              <a:rPr lang="en-US" sz="3200" b="1" dirty="0">
                <a:latin typeface="SutonnyMJ" pitchFamily="2" charset="0"/>
                <a:cs typeface="SutonnyMJ" pitchFamily="2" charset="0"/>
              </a:rPr>
              <a:t>¸‡</a:t>
            </a:r>
            <a:r>
              <a:rPr lang="en-US" sz="3200" b="1" dirty="0" err="1">
                <a:latin typeface="SutonnyMJ" pitchFamily="2" charset="0"/>
                <a:cs typeface="SutonnyMJ" pitchFamily="2" charset="0"/>
              </a:rPr>
              <a:t>jvi</a:t>
            </a:r>
            <a:r>
              <a:rPr lang="en-US" sz="32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b="1" dirty="0" err="1">
                <a:latin typeface="SutonnyMJ" pitchFamily="2" charset="0"/>
                <a:cs typeface="SutonnyMJ" pitchFamily="2" charset="0"/>
              </a:rPr>
              <a:t>msLv</a:t>
            </a:r>
            <a:br>
              <a:rPr lang="en-US" sz="3200" b="1" dirty="0">
                <a:latin typeface="SutonnyMJ" pitchFamily="2" charset="0"/>
                <a:cs typeface="SutonnyMJ" pitchFamily="2" charset="0"/>
              </a:rPr>
            </a:br>
            <a:r>
              <a:rPr lang="en-US" sz="3200" b="1" dirty="0">
                <a:latin typeface="SutonnyMJ" pitchFamily="2" charset="0"/>
                <a:cs typeface="SutonnyMJ" pitchFamily="2" charset="0"/>
              </a:rPr>
              <a:t>= 24 ÷ 5</a:t>
            </a:r>
            <a:br>
              <a:rPr lang="en-US" sz="3200" b="1" dirty="0">
                <a:latin typeface="SutonnyMJ" pitchFamily="2" charset="0"/>
                <a:cs typeface="SutonnyMJ" pitchFamily="2" charset="0"/>
              </a:rPr>
            </a:br>
            <a:r>
              <a:rPr lang="en-US" sz="3200" b="1" dirty="0">
                <a:latin typeface="SutonnyMJ" pitchFamily="2" charset="0"/>
                <a:cs typeface="SutonnyMJ" pitchFamily="2" charset="0"/>
              </a:rPr>
              <a:t>= 4.8</a:t>
            </a:r>
            <a:endParaRPr lang="en-BD" sz="3200" dirty="0"/>
          </a:p>
        </p:txBody>
      </p:sp>
    </p:spTree>
    <p:extLst>
      <p:ext uri="{BB962C8B-B14F-4D97-AF65-F5344CB8AC3E}">
        <p14:creationId xmlns:p14="http://schemas.microsoft.com/office/powerpoint/2010/main" val="10459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"/>
          <p:cNvSpPr/>
          <p:nvPr/>
        </p:nvSpPr>
        <p:spPr>
          <a:xfrm>
            <a:off x="2172489" y="3953986"/>
            <a:ext cx="784702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 err="1">
                <a:latin typeface="SutonnyMJ" pitchFamily="2" charset="0"/>
              </a:rPr>
              <a:t>Sywo</a:t>
            </a:r>
            <a:r>
              <a:rPr lang="en-US" sz="4000" b="1" dirty="0">
                <a:latin typeface="SutonnyMJ" pitchFamily="2" charset="0"/>
              </a:rPr>
              <a:t> </a:t>
            </a:r>
            <a:r>
              <a:rPr lang="en-US" sz="4000" b="1" dirty="0" err="1">
                <a:latin typeface="SutonnyMJ" pitchFamily="2" charset="0"/>
              </a:rPr>
              <a:t>PviwU‡Z</a:t>
            </a:r>
            <a:r>
              <a:rPr lang="en-US" sz="4000" b="1" dirty="0">
                <a:latin typeface="SutonnyMJ" pitchFamily="2" charset="0"/>
              </a:rPr>
              <a:t> </a:t>
            </a:r>
            <a:r>
              <a:rPr lang="en-US" sz="4000" b="1" dirty="0" err="1">
                <a:latin typeface="SutonnyMJ" pitchFamily="2" charset="0"/>
              </a:rPr>
              <a:t>Av‡gi</a:t>
            </a:r>
            <a:r>
              <a:rPr lang="en-US" sz="4000" b="1" dirty="0">
                <a:latin typeface="SutonnyMJ" pitchFamily="2" charset="0"/>
              </a:rPr>
              <a:t> Mo </a:t>
            </a:r>
            <a:r>
              <a:rPr lang="en-US" sz="4000" b="1" dirty="0" err="1">
                <a:latin typeface="SutonnyMJ" pitchFamily="2" charset="0"/>
              </a:rPr>
              <a:t>msLv</a:t>
            </a:r>
            <a:r>
              <a:rPr lang="en-US" sz="4000" b="1" dirty="0">
                <a:latin typeface="SutonnyMJ" pitchFamily="2" charset="0"/>
              </a:rPr>
              <a:t> KZ?</a:t>
            </a:r>
            <a:endParaRPr sz="4000" b="1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3175416" y="6378237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5" name="Picture 4" descr="A group of yellow fruit in baskets&#10;&#10;AI-generated content may be incorrect.">
            <a:extLst>
              <a:ext uri="{FF2B5EF4-FFF2-40B4-BE49-F238E27FC236}">
                <a16:creationId xmlns:a16="http://schemas.microsoft.com/office/drawing/2014/main" id="{632C9B99-EBF4-7088-FA95-CC03F15A5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092" y="1119771"/>
            <a:ext cx="8259815" cy="259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F5D380-0542-47E8-F91F-09FB0B04B21D}"/>
              </a:ext>
            </a:extLst>
          </p:cNvPr>
          <p:cNvSpPr txBox="1"/>
          <p:nvPr/>
        </p:nvSpPr>
        <p:spPr>
          <a:xfrm>
            <a:off x="2564871" y="3114599"/>
            <a:ext cx="644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SutonnyMJ" pitchFamily="2" charset="0"/>
                <a:cs typeface="SutonnyMJ" pitchFamily="2" charset="0"/>
              </a:rPr>
              <a:t>7wU</a:t>
            </a:r>
            <a:endParaRPr lang="en-BD" sz="3200" b="1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55AFED-B4A3-9F54-E4EE-FD7E28E6AFA8}"/>
              </a:ext>
            </a:extLst>
          </p:cNvPr>
          <p:cNvSpPr txBox="1"/>
          <p:nvPr/>
        </p:nvSpPr>
        <p:spPr>
          <a:xfrm>
            <a:off x="4541520" y="3195370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SutonnyMJ" pitchFamily="2" charset="0"/>
                <a:cs typeface="SutonnyMJ" pitchFamily="2" charset="0"/>
              </a:rPr>
              <a:t>9wU</a:t>
            </a:r>
            <a:endParaRPr lang="en-BD" sz="3200" b="1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A5EE8E-DBAB-92D5-7EAA-E5A28A468926}"/>
              </a:ext>
            </a:extLst>
          </p:cNvPr>
          <p:cNvSpPr txBox="1"/>
          <p:nvPr/>
        </p:nvSpPr>
        <p:spPr>
          <a:xfrm>
            <a:off x="6507352" y="3114599"/>
            <a:ext cx="79701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SutonnyMJ" pitchFamily="2" charset="0"/>
                <a:cs typeface="SutonnyMJ" pitchFamily="2" charset="0"/>
              </a:rPr>
              <a:t>11wU</a:t>
            </a:r>
            <a:endParaRPr lang="en-BD" sz="3200" b="1" dirty="0">
              <a:latin typeface="SutonnyMJ" pitchFamily="2" charset="0"/>
              <a:cs typeface="SutonnyMJ" pitchFamily="2" charset="0"/>
            </a:endParaRPr>
          </a:p>
          <a:p>
            <a:endParaRPr lang="en-BD" sz="3200" b="1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51B09-2643-BB55-D8CF-12D7554E9C36}"/>
              </a:ext>
            </a:extLst>
          </p:cNvPr>
          <p:cNvSpPr txBox="1"/>
          <p:nvPr/>
        </p:nvSpPr>
        <p:spPr>
          <a:xfrm>
            <a:off x="8698227" y="3195370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SutonnyMJ" pitchFamily="2" charset="0"/>
                <a:cs typeface="SutonnyMJ" pitchFamily="2" charset="0"/>
              </a:rPr>
              <a:t>9wU</a:t>
            </a:r>
            <a:endParaRPr lang="en-BD" sz="3200" b="1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10" name="Google Shape;453;p11">
            <a:extLst>
              <a:ext uri="{FF2B5EF4-FFF2-40B4-BE49-F238E27FC236}">
                <a16:creationId xmlns:a16="http://schemas.microsoft.com/office/drawing/2014/main" id="{F20A97D3-197C-E203-4E85-711206B5DCF0}"/>
              </a:ext>
            </a:extLst>
          </p:cNvPr>
          <p:cNvSpPr/>
          <p:nvPr/>
        </p:nvSpPr>
        <p:spPr>
          <a:xfrm>
            <a:off x="2976213" y="529887"/>
            <a:ext cx="5226111" cy="923289"/>
          </a:xfrm>
          <a:prstGeom prst="rect">
            <a:avLst/>
          </a:prstGeom>
          <a:solidFill>
            <a:srgbClr val="EE80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সমস্যা</a:t>
            </a:r>
            <a:r>
              <a:rPr lang="en-US" sz="5400" b="1" dirty="0">
                <a:latin typeface="SutonnyMJ" pitchFamily="2" charset="0"/>
                <a:cs typeface="SutonnyMJ" pitchFamily="2" charset="0"/>
              </a:rPr>
              <a:t>-2</a:t>
            </a:r>
            <a:endParaRPr sz="5400" b="1" dirty="0">
              <a:solidFill>
                <a:srgbClr val="000000"/>
              </a:solidFill>
              <a:latin typeface="SutonnyMJ" pitchFamily="2" charset="0"/>
              <a:cs typeface="SutonnyMJ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0"/>
          <p:cNvSpPr/>
          <p:nvPr/>
        </p:nvSpPr>
        <p:spPr>
          <a:xfrm>
            <a:off x="795490" y="605135"/>
            <a:ext cx="203613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সমাধানঃ</a:t>
            </a:r>
            <a:endParaRPr sz="4400" b="1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1572944" y="1227768"/>
            <a:ext cx="863569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আমরা</a:t>
            </a:r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জানি</a:t>
            </a:r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,                                                                   </a:t>
            </a:r>
            <a:endParaRPr sz="2800" dirty="0">
              <a:latin typeface="SutonnyMJ" pitchFamily="2" charset="0"/>
              <a:cs typeface="SutonnyMJ" pitchFamily="2" charset="0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    </a:t>
            </a:r>
            <a:r>
              <a:rPr lang="en-US" sz="2800" b="1" dirty="0" err="1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গড়</a:t>
            </a:r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 = </a:t>
            </a:r>
            <a:r>
              <a:rPr lang="en-US" sz="2800" b="1" dirty="0" err="1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রাশিগুলোর</a:t>
            </a:r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যোগফল</a:t>
            </a:r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 ÷ </a:t>
            </a:r>
            <a:r>
              <a:rPr lang="en-US" sz="2800" b="1" dirty="0" err="1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রাশিগুলোর</a:t>
            </a:r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সংখ্যা</a:t>
            </a:r>
            <a:endParaRPr sz="2800" b="1" dirty="0">
              <a:solidFill>
                <a:srgbClr val="000000"/>
              </a:solidFill>
              <a:latin typeface="SutonnyMJ" pitchFamily="2" charset="0"/>
              <a:ea typeface="Corbel"/>
              <a:cs typeface="SutonnyMJ" pitchFamily="2" charset="0"/>
              <a:sym typeface="Corbel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1903179" y="2210600"/>
            <a:ext cx="784060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bn-BD" sz="2800" b="1" dirty="0">
                <a:latin typeface="SutonnyMJ" pitchFamily="2" charset="0"/>
              </a:rPr>
              <a:t>ঝুড়ি চারটিতে আমের মোট সংখ্যা</a:t>
            </a:r>
            <a:r>
              <a:rPr lang="en-US" sz="28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=(</a:t>
            </a:r>
            <a:r>
              <a:rPr lang="bn-BD" sz="2800" b="1" dirty="0">
                <a:latin typeface="SutonnyMJ" pitchFamily="2" charset="0"/>
                <a:ea typeface="Corbel"/>
                <a:cs typeface="Corbel"/>
                <a:sym typeface="Corbel"/>
              </a:rPr>
              <a:t>৭ + ৯  + ১ ১ + ৯ </a:t>
            </a:r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)</a:t>
            </a:r>
            <a:r>
              <a:rPr lang="en-US" sz="2800" b="1" dirty="0">
                <a:latin typeface="SutonnyMJ" pitchFamily="2" charset="0"/>
                <a:ea typeface="Corbel"/>
                <a:cs typeface="SutonnyMJ" pitchFamily="2" charset="0"/>
                <a:sym typeface="Corbel"/>
              </a:rPr>
              <a:t> </a:t>
            </a:r>
            <a:r>
              <a:rPr lang="bn-BD" sz="2800" b="1" dirty="0">
                <a:latin typeface="SutonnyMJ" pitchFamily="2" charset="0"/>
                <a:ea typeface="Corbel"/>
                <a:cs typeface="Corbel"/>
                <a:sym typeface="Corbel"/>
              </a:rPr>
              <a:t>টি </a:t>
            </a:r>
            <a:endParaRPr sz="2800" b="1" dirty="0">
              <a:solidFill>
                <a:srgbClr val="000000"/>
              </a:solidFill>
              <a:latin typeface="SutonnyMJ" pitchFamily="2" charset="0"/>
              <a:ea typeface="Corbel"/>
              <a:cs typeface="SutonnyMJ" pitchFamily="2" charset="0"/>
              <a:sym typeface="Corbel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5890793" y="2666009"/>
            <a:ext cx="209544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=</a:t>
            </a:r>
            <a:r>
              <a:rPr lang="bn-BD" sz="2800" b="1" dirty="0">
                <a:latin typeface="SutonnyMJ" pitchFamily="2" charset="0"/>
                <a:ea typeface="Corbel"/>
                <a:cs typeface="Corbel"/>
                <a:sym typeface="Corbel"/>
              </a:rPr>
              <a:t>৩৬ টি </a:t>
            </a:r>
            <a:endParaRPr sz="2800" b="1" dirty="0">
              <a:solidFill>
                <a:srgbClr val="000000"/>
              </a:solidFill>
              <a:latin typeface="SutonnyMJ" pitchFamily="2" charset="0"/>
              <a:ea typeface="Corbel"/>
              <a:cs typeface="SutonnyMJ" pitchFamily="2" charset="0"/>
              <a:sym typeface="Corbel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5980784" y="3552128"/>
            <a:ext cx="269401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=</a:t>
            </a:r>
            <a:r>
              <a:rPr lang="bn-BD" sz="2800" dirty="0">
                <a:latin typeface="SutonnyMJ" pitchFamily="2" charset="0"/>
              </a:rPr>
              <a:t> </a:t>
            </a:r>
            <a:r>
              <a:rPr lang="bn-BD" sz="2800" b="1" dirty="0">
                <a:latin typeface="SutonnyMJ" pitchFamily="2" charset="0"/>
              </a:rPr>
              <a:t>৩৬ ÷ ৪</a:t>
            </a:r>
            <a:endParaRPr lang="en-US" sz="2800" b="1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3175416" y="6367480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Google Shape;443;p10">
            <a:extLst>
              <a:ext uri="{FF2B5EF4-FFF2-40B4-BE49-F238E27FC236}">
                <a16:creationId xmlns:a16="http://schemas.microsoft.com/office/drawing/2014/main" id="{F37CBF0D-A82F-2182-CF18-EE1141190346}"/>
              </a:ext>
            </a:extLst>
          </p:cNvPr>
          <p:cNvSpPr/>
          <p:nvPr/>
        </p:nvSpPr>
        <p:spPr>
          <a:xfrm>
            <a:off x="706131" y="3136632"/>
            <a:ext cx="1077973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 dirty="0" err="1">
                <a:latin typeface="SutonnyMJ" pitchFamily="2" charset="0"/>
              </a:rPr>
              <a:t>Sywo</a:t>
            </a:r>
            <a:r>
              <a:rPr lang="en-US" sz="3200" b="1" dirty="0">
                <a:latin typeface="SutonnyMJ" pitchFamily="2" charset="0"/>
              </a:rPr>
              <a:t> </a:t>
            </a:r>
            <a:r>
              <a:rPr lang="en-US" sz="3200" b="1" dirty="0" err="1">
                <a:latin typeface="SutonnyMJ" pitchFamily="2" charset="0"/>
              </a:rPr>
              <a:t>PviwU‡Z</a:t>
            </a:r>
            <a:r>
              <a:rPr lang="en-US" sz="3200" b="1" dirty="0">
                <a:latin typeface="SutonnyMJ" pitchFamily="2" charset="0"/>
              </a:rPr>
              <a:t> </a:t>
            </a:r>
            <a:r>
              <a:rPr lang="en-US" sz="3200" b="1" dirty="0" err="1">
                <a:latin typeface="SutonnyMJ" pitchFamily="2" charset="0"/>
              </a:rPr>
              <a:t>Av‡gi</a:t>
            </a:r>
            <a:r>
              <a:rPr lang="en-US" sz="3200" b="1" dirty="0">
                <a:latin typeface="SutonnyMJ" pitchFamily="2" charset="0"/>
              </a:rPr>
              <a:t> Mo </a:t>
            </a:r>
            <a:r>
              <a:rPr lang="bn-BD" sz="3200" b="1" dirty="0"/>
              <a:t>= আমের মোট সংখ্যা ÷ ঝুড়ির সংখ্যা।</a:t>
            </a:r>
            <a:endParaRPr sz="2000" b="1" dirty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" name="Google Shape;435;p9">
            <a:extLst>
              <a:ext uri="{FF2B5EF4-FFF2-40B4-BE49-F238E27FC236}">
                <a16:creationId xmlns:a16="http://schemas.microsoft.com/office/drawing/2014/main" id="{12E25B7E-80E5-C6E8-E81B-F213FFC13561}"/>
              </a:ext>
            </a:extLst>
          </p:cNvPr>
          <p:cNvSpPr/>
          <p:nvPr/>
        </p:nvSpPr>
        <p:spPr>
          <a:xfrm>
            <a:off x="1813557" y="4367284"/>
            <a:ext cx="78470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600" b="1" dirty="0" err="1">
                <a:latin typeface="SutonnyMJ" pitchFamily="2" charset="0"/>
              </a:rPr>
              <a:t>Sywo</a:t>
            </a:r>
            <a:r>
              <a:rPr lang="en-US" sz="3600" b="1" dirty="0">
                <a:latin typeface="SutonnyMJ" pitchFamily="2" charset="0"/>
              </a:rPr>
              <a:t> </a:t>
            </a:r>
            <a:r>
              <a:rPr lang="en-US" sz="3600" b="1" dirty="0" err="1">
                <a:latin typeface="SutonnyMJ" pitchFamily="2" charset="0"/>
              </a:rPr>
              <a:t>PviwU‡Z</a:t>
            </a:r>
            <a:r>
              <a:rPr lang="en-US" sz="3600" b="1" dirty="0">
                <a:latin typeface="SutonnyMJ" pitchFamily="2" charset="0"/>
              </a:rPr>
              <a:t> </a:t>
            </a:r>
            <a:r>
              <a:rPr lang="en-US" sz="3600" b="1" dirty="0" err="1">
                <a:latin typeface="SutonnyMJ" pitchFamily="2" charset="0"/>
              </a:rPr>
              <a:t>Av‡gi</a:t>
            </a:r>
            <a:r>
              <a:rPr lang="en-US" sz="3600" b="1" dirty="0">
                <a:latin typeface="SutonnyMJ" pitchFamily="2" charset="0"/>
              </a:rPr>
              <a:t> Mo </a:t>
            </a:r>
            <a:r>
              <a:rPr lang="en-US" sz="3600" b="1" dirty="0" err="1">
                <a:latin typeface="SutonnyMJ" pitchFamily="2" charset="0"/>
              </a:rPr>
              <a:t>msLv</a:t>
            </a:r>
            <a:r>
              <a:rPr lang="en-US" sz="3600" b="1" dirty="0">
                <a:latin typeface="SutonnyMJ" pitchFamily="2" charset="0"/>
              </a:rPr>
              <a:t> = 9</a:t>
            </a:r>
            <a:endParaRPr sz="3600" b="1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4" name="Google Shape;444;p10">
            <a:extLst>
              <a:ext uri="{FF2B5EF4-FFF2-40B4-BE49-F238E27FC236}">
                <a16:creationId xmlns:a16="http://schemas.microsoft.com/office/drawing/2014/main" id="{F0798DC7-F700-58E6-756D-A248DAC2EB0D}"/>
              </a:ext>
            </a:extLst>
          </p:cNvPr>
          <p:cNvSpPr/>
          <p:nvPr/>
        </p:nvSpPr>
        <p:spPr>
          <a:xfrm>
            <a:off x="5980784" y="3928562"/>
            <a:ext cx="209544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800" b="1" dirty="0">
                <a:solidFill>
                  <a:srgbClr val="000000"/>
                </a:solidFill>
                <a:latin typeface="SutonnyMJ" pitchFamily="2" charset="0"/>
                <a:ea typeface="Corbel"/>
                <a:cs typeface="SutonnyMJ" pitchFamily="2" charset="0"/>
                <a:sym typeface="Corbel"/>
              </a:rPr>
              <a:t>=</a:t>
            </a:r>
            <a:r>
              <a:rPr lang="en-US" sz="2800" b="1" dirty="0">
                <a:latin typeface="SutonnyMJ" pitchFamily="2" charset="0"/>
                <a:cs typeface="SutonnyMJ" pitchFamily="2" charset="0"/>
              </a:rPr>
              <a:t> 9</a:t>
            </a:r>
            <a:r>
              <a:rPr lang="bn-BD" sz="2800" b="1" dirty="0">
                <a:latin typeface="SutonnyMJ" pitchFamily="2" charset="0"/>
                <a:ea typeface="Corbel"/>
                <a:cs typeface="Corbel"/>
                <a:sym typeface="Corbel"/>
              </a:rPr>
              <a:t> টি </a:t>
            </a:r>
            <a:endParaRPr sz="2800" b="1" dirty="0">
              <a:solidFill>
                <a:srgbClr val="000000"/>
              </a:solidFill>
              <a:latin typeface="SutonnyMJ" pitchFamily="2" charset="0"/>
              <a:ea typeface="Corbel"/>
              <a:cs typeface="SutonnyMJ" pitchFamily="2" charset="0"/>
              <a:sym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"/>
          <p:cNvSpPr txBox="1"/>
          <p:nvPr/>
        </p:nvSpPr>
        <p:spPr>
          <a:xfrm>
            <a:off x="1316356" y="2344102"/>
            <a:ext cx="10219464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৮টি </a:t>
            </a:r>
            <a:r>
              <a:rPr lang="en-US" sz="4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ডিমের</a:t>
            </a: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ওজন</a:t>
            </a: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নিম্নরূপঃ</a:t>
            </a: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৫৪ </a:t>
            </a:r>
            <a:r>
              <a:rPr lang="en-US" sz="4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গ্রাম</a:t>
            </a: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 ৫৬গ্রাম,  ৫৫গ্রাম, ৫৮গ্রাম, ৫৭গ্রাম, ৫০গ্রাম,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৫৩গ্রাম, ৫১গ্রাম। ৮টি </a:t>
            </a:r>
            <a:r>
              <a:rPr lang="en-US" sz="4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ডিমের</a:t>
            </a: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গড়</a:t>
            </a: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ওজন</a:t>
            </a: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নির্ণয়</a:t>
            </a: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কর</a:t>
            </a:r>
            <a:r>
              <a:rPr lang="en-US" sz="4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। </a:t>
            </a:r>
            <a:endParaRPr dirty="0"/>
          </a:p>
        </p:txBody>
      </p:sp>
      <p:sp>
        <p:nvSpPr>
          <p:cNvPr id="453" name="Google Shape;453;p11"/>
          <p:cNvSpPr/>
          <p:nvPr/>
        </p:nvSpPr>
        <p:spPr>
          <a:xfrm>
            <a:off x="2976213" y="529887"/>
            <a:ext cx="5226111" cy="923289"/>
          </a:xfrm>
          <a:prstGeom prst="rect">
            <a:avLst/>
          </a:prstGeom>
          <a:solidFill>
            <a:srgbClr val="EE80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সমস্যা</a:t>
            </a:r>
            <a:r>
              <a:rPr lang="en-US" sz="5400" b="1" dirty="0">
                <a:latin typeface="SutonnyMJ" pitchFamily="2" charset="0"/>
                <a:cs typeface="SutonnyMJ" pitchFamily="2" charset="0"/>
              </a:rPr>
              <a:t>-3</a:t>
            </a:r>
            <a:endParaRPr sz="5400" b="1" dirty="0">
              <a:solidFill>
                <a:srgbClr val="000000"/>
              </a:solidFill>
              <a:latin typeface="SutonnyMJ" pitchFamily="2" charset="0"/>
              <a:cs typeface="SutonnyMJ" pitchFamily="2" charset="0"/>
              <a:sym typeface="Arial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3175416" y="6388997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"/>
          <p:cNvSpPr txBox="1"/>
          <p:nvPr/>
        </p:nvSpPr>
        <p:spPr>
          <a:xfrm>
            <a:off x="1296352" y="659130"/>
            <a:ext cx="9995044" cy="53144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75" t="-103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3175416" y="6378240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3"/>
          <p:cNvSpPr txBox="1"/>
          <p:nvPr/>
        </p:nvSpPr>
        <p:spPr>
          <a:xfrm>
            <a:off x="668612" y="1764616"/>
            <a:ext cx="145584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সমাধানঃ</a:t>
            </a:r>
            <a:endParaRPr sz="36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 txBox="1"/>
          <p:nvPr/>
        </p:nvSpPr>
        <p:spPr>
          <a:xfrm>
            <a:off x="2524860" y="2704756"/>
            <a:ext cx="561083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দেওয়া আছে ৬টি বইয়ের ওজন = ৯২৪ গ্রাম</a:t>
            </a:r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3"/>
          <p:cNvSpPr txBox="1"/>
          <p:nvPr/>
        </p:nvSpPr>
        <p:spPr>
          <a:xfrm>
            <a:off x="2392680" y="3364211"/>
            <a:ext cx="6051465" cy="5847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12498" b="-3437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  <p:sp>
        <p:nvSpPr>
          <p:cNvPr id="468" name="Google Shape;468;p13"/>
          <p:cNvSpPr txBox="1"/>
          <p:nvPr/>
        </p:nvSpPr>
        <p:spPr>
          <a:xfrm>
            <a:off x="5583861" y="3948986"/>
            <a:ext cx="166423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১৫৪ গ্রাম</a:t>
            </a:r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3"/>
          <p:cNvSpPr txBox="1"/>
          <p:nvPr/>
        </p:nvSpPr>
        <p:spPr>
          <a:xfrm>
            <a:off x="668612" y="5442280"/>
            <a:ext cx="217559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উত্তরঃ ১৫৪ গ্রাম</a:t>
            </a:r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3"/>
          <p:cNvSpPr txBox="1"/>
          <p:nvPr/>
        </p:nvSpPr>
        <p:spPr>
          <a:xfrm>
            <a:off x="1756410" y="565131"/>
            <a:ext cx="866936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৬ টি বইয়ের ওজন ৯২৪ গ্রাম। বইগুলোর গড়  ওজন বের কর।</a:t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3175416" y="6410509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4"/>
          <p:cNvSpPr txBox="1"/>
          <p:nvPr/>
        </p:nvSpPr>
        <p:spPr>
          <a:xfrm>
            <a:off x="1437008" y="457251"/>
            <a:ext cx="7260654" cy="1396151"/>
          </a:xfrm>
          <a:prstGeom prst="rect">
            <a:avLst/>
          </a:prstGeom>
          <a:solidFill>
            <a:schemeClr val="lt1">
              <a:alpha val="43921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প্রশ্নঃ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একটি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গাভী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থেকে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প্রতিদিন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কী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পরিমাণ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দুধ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পাওয়া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যায়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তা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নিচের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ছকে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দেখানো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হয়েছে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।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প্রতিদিন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গাভীটি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গড়ে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কী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পরিমাণ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দুধ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দেয়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sz="2824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7" name="Google Shape;477;p14"/>
          <p:cNvGraphicFramePr/>
          <p:nvPr/>
        </p:nvGraphicFramePr>
        <p:xfrm>
          <a:off x="1605489" y="1806515"/>
          <a:ext cx="7171775" cy="1022000"/>
        </p:xfrm>
        <a:graphic>
          <a:graphicData uri="http://schemas.openxmlformats.org/drawingml/2006/table">
            <a:tbl>
              <a:tblPr firstRow="1" bandRow="1">
                <a:noFill/>
                <a:tableStyleId>{72F0AD33-D1C1-4948-B703-B94E24830594}</a:tableStyleId>
              </a:tblPr>
              <a:tblGrid>
                <a:gridCol w="144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5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বার 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শনি 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রবি 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সোম 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মঙ্গল 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বুধ 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বৃহস্পতি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শুক্র 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দুধ (লিটার)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১৩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১৬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১৫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১৩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১৭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১৪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১৭</a:t>
                      </a:r>
                      <a:endParaRPr sz="2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8" name="Google Shape;478;p14"/>
          <p:cNvSpPr txBox="1"/>
          <p:nvPr/>
        </p:nvSpPr>
        <p:spPr>
          <a:xfrm>
            <a:off x="778957" y="3106405"/>
            <a:ext cx="7260654" cy="961545"/>
          </a:xfrm>
          <a:prstGeom prst="rect">
            <a:avLst/>
          </a:prstGeom>
          <a:solidFill>
            <a:schemeClr val="lt1">
              <a:alpha val="43921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সমাধানঃ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দুধ পাওয়া যায় মোট ৭ দিন। </a:t>
            </a:r>
            <a:endParaRPr/>
          </a:p>
        </p:txBody>
      </p:sp>
      <p:sp>
        <p:nvSpPr>
          <p:cNvPr id="479" name="Google Shape;479;p14"/>
          <p:cNvSpPr txBox="1"/>
          <p:nvPr/>
        </p:nvSpPr>
        <p:spPr>
          <a:xfrm>
            <a:off x="1046243" y="4095038"/>
            <a:ext cx="8812821" cy="526939"/>
          </a:xfrm>
          <a:prstGeom prst="rect">
            <a:avLst/>
          </a:prstGeom>
          <a:solidFill>
            <a:schemeClr val="lt1">
              <a:alpha val="43921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৭ দিনে গাভী মোট দুধ দেয় (১৩ + ১৬ + ১৫ + ১৩ + ১৭ + ১৪ + ১৭) লিটার </a:t>
            </a:r>
            <a:endParaRPr sz="282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4"/>
          <p:cNvSpPr txBox="1"/>
          <p:nvPr/>
        </p:nvSpPr>
        <p:spPr>
          <a:xfrm>
            <a:off x="4058833" y="4642325"/>
            <a:ext cx="2017004" cy="526939"/>
          </a:xfrm>
          <a:prstGeom prst="rect">
            <a:avLst/>
          </a:prstGeom>
          <a:solidFill>
            <a:schemeClr val="lt1">
              <a:alpha val="43921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১০৫ লিটার </a:t>
            </a:r>
            <a:endParaRPr sz="282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4"/>
          <p:cNvSpPr txBox="1"/>
          <p:nvPr/>
        </p:nvSpPr>
        <p:spPr>
          <a:xfrm>
            <a:off x="1046242" y="5177806"/>
            <a:ext cx="6195109" cy="52693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066" t="-10344" b="-3333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  <p:sp>
        <p:nvSpPr>
          <p:cNvPr id="482" name="Google Shape;482;p14"/>
          <p:cNvSpPr txBox="1"/>
          <p:nvPr/>
        </p:nvSpPr>
        <p:spPr>
          <a:xfrm>
            <a:off x="4332202" y="5752181"/>
            <a:ext cx="1718338" cy="526939"/>
          </a:xfrm>
          <a:prstGeom prst="rect">
            <a:avLst/>
          </a:prstGeom>
          <a:solidFill>
            <a:schemeClr val="lt1">
              <a:alpha val="43921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৩৫ লিটার </a:t>
            </a:r>
            <a:endParaRPr sz="282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4"/>
          <p:cNvSpPr txBox="1"/>
          <p:nvPr/>
        </p:nvSpPr>
        <p:spPr>
          <a:xfrm>
            <a:off x="929640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3175416" y="6378238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5"/>
          <p:cNvSpPr txBox="1"/>
          <p:nvPr/>
        </p:nvSpPr>
        <p:spPr>
          <a:xfrm>
            <a:off x="879159" y="141005"/>
            <a:ext cx="7731442" cy="96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সোহেল ও হামিদার বাংলা, ইংরেজি, গণিত, বিজ্ঞান ও বাংলাদেশ ও বিশ্বপরিচয় পরীক্ষার প্রাপ্ত নম্বর নিচের ছকে দেওয়া হলোঃ </a:t>
            </a:r>
            <a:endParaRPr sz="2824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1" name="Google Shape;491;p15"/>
          <p:cNvGraphicFramePr/>
          <p:nvPr/>
        </p:nvGraphicFramePr>
        <p:xfrm>
          <a:off x="1407800" y="1085157"/>
          <a:ext cx="7598900" cy="1533000"/>
        </p:xfrm>
        <a:graphic>
          <a:graphicData uri="http://schemas.openxmlformats.org/drawingml/2006/table">
            <a:tbl>
              <a:tblPr firstRow="1" bandRow="1">
                <a:noFill/>
                <a:tableStyleId>{72F0AD33-D1C1-4948-B703-B94E24830594}</a:tableStyleId>
              </a:tblPr>
              <a:tblGrid>
                <a:gridCol w="111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বিষয় 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বাংলা  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গণিত  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ইংরেজি  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বিজ্ঞান  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বাংলাদেশ ও বিশ্বপরিচয়  </a:t>
                      </a:r>
                      <a:endParaRPr sz="20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সোহেল 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৬৮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৯৫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৫৬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৯০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৬৫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হামিদা 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৭২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৭৮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৮৪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৮০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৮৬ </a:t>
                      </a:r>
                      <a:endParaRPr sz="280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0675" marR="80675" marT="40350" marB="403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2" name="Google Shape;492;p15"/>
          <p:cNvSpPr txBox="1"/>
          <p:nvPr/>
        </p:nvSpPr>
        <p:spPr>
          <a:xfrm>
            <a:off x="879158" y="2720776"/>
            <a:ext cx="8916791" cy="52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হামিদার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প্রথম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তিন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বিষয়ের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গড়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নম্বর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কত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sz="2824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5"/>
          <p:cNvSpPr txBox="1"/>
          <p:nvPr/>
        </p:nvSpPr>
        <p:spPr>
          <a:xfrm>
            <a:off x="856488" y="3323680"/>
            <a:ext cx="4024181" cy="52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খ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সোহেলের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গড়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নম্বর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24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কত</a:t>
            </a:r>
            <a:r>
              <a:rPr lang="en-US" sz="2824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sz="2824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5"/>
          <p:cNvSpPr txBox="1"/>
          <p:nvPr/>
        </p:nvSpPr>
        <p:spPr>
          <a:xfrm>
            <a:off x="843241" y="3948001"/>
            <a:ext cx="5355640" cy="52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গ) দুইজনের মধ্যে কে পরীক্ষায় ভালো করেছে? </a:t>
            </a:r>
            <a:endParaRPr sz="2824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5"/>
          <p:cNvSpPr txBox="1"/>
          <p:nvPr/>
        </p:nvSpPr>
        <p:spPr>
          <a:xfrm>
            <a:off x="856488" y="4590724"/>
            <a:ext cx="1596839" cy="52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সমাধানঃক) </a:t>
            </a:r>
            <a:endParaRPr sz="2824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5"/>
          <p:cNvSpPr txBox="1"/>
          <p:nvPr/>
        </p:nvSpPr>
        <p:spPr>
          <a:xfrm>
            <a:off x="843241" y="5186308"/>
            <a:ext cx="9161991" cy="52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হামিদার প্রথম ৩ বিষয়ের মোট নম্বর = (৭২+৭৮+৮৪) = ২৩৪ নম্বর </a:t>
            </a:r>
            <a:endParaRPr sz="2824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5"/>
          <p:cNvSpPr txBox="1"/>
          <p:nvPr/>
        </p:nvSpPr>
        <p:spPr>
          <a:xfrm>
            <a:off x="843241" y="5843534"/>
            <a:ext cx="7349621" cy="52693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740" t="-11627" r="-13514" b="-3371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  <p:sp>
        <p:nvSpPr>
          <p:cNvPr id="498" name="Google Shape;498;p15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9" name="Google Shape;499;p1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15</a:t>
            </a:fld>
            <a:endParaRPr sz="18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3175416" y="6378240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6"/>
          <p:cNvSpPr txBox="1"/>
          <p:nvPr/>
        </p:nvSpPr>
        <p:spPr>
          <a:xfrm>
            <a:off x="557838" y="601703"/>
            <a:ext cx="485383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খ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3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সোহেলের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গড়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নম্বর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কত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sz="3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6"/>
          <p:cNvSpPr txBox="1"/>
          <p:nvPr/>
        </p:nvSpPr>
        <p:spPr>
          <a:xfrm>
            <a:off x="631340" y="1529104"/>
            <a:ext cx="242635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সমাধানঃ খ)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6"/>
          <p:cNvSpPr txBox="1"/>
          <p:nvPr/>
        </p:nvSpPr>
        <p:spPr>
          <a:xfrm>
            <a:off x="600273" y="2482159"/>
            <a:ext cx="1128602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৫ বিষয়ে সোহেলের মোট নম্বর ( ৬৮ + ৯৫ + ৫৬ + ৯০ + ৬৫) = ৩৭৪ নম্বর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6"/>
          <p:cNvSpPr txBox="1"/>
          <p:nvPr/>
        </p:nvSpPr>
        <p:spPr>
          <a:xfrm>
            <a:off x="632441" y="3429000"/>
            <a:ext cx="8336482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267" t="-13206" r="-22089" b="-358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  <p:sp>
        <p:nvSpPr>
          <p:cNvPr id="509" name="Google Shape;509;p16"/>
          <p:cNvSpPr txBox="1"/>
          <p:nvPr/>
        </p:nvSpPr>
        <p:spPr>
          <a:xfrm>
            <a:off x="632441" y="4156232"/>
            <a:ext cx="206828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৭৪.৮ নম্বর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6"/>
          <p:cNvSpPr txBox="1"/>
          <p:nvPr/>
        </p:nvSpPr>
        <p:spPr>
          <a:xfrm>
            <a:off x="600273" y="4902642"/>
            <a:ext cx="51433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সুতরাং সোহেলের গড় নম্বর ৭৪.৮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6"/>
          <p:cNvSpPr txBox="1"/>
          <p:nvPr/>
        </p:nvSpPr>
        <p:spPr>
          <a:xfrm>
            <a:off x="89535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2" name="Google Shape;512;p16"/>
          <p:cNvSpPr txBox="1"/>
          <p:nvPr/>
        </p:nvSpPr>
        <p:spPr>
          <a:xfrm>
            <a:off x="866775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16</a:t>
            </a:fld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3175416" y="6399751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7"/>
          <p:cNvSpPr txBox="1"/>
          <p:nvPr/>
        </p:nvSpPr>
        <p:spPr>
          <a:xfrm>
            <a:off x="740360" y="1192188"/>
            <a:ext cx="705314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গ) দুইজনের মধ্যে কে পরীক্ষায় ভালো করেছে?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7"/>
          <p:cNvSpPr txBox="1"/>
          <p:nvPr/>
        </p:nvSpPr>
        <p:spPr>
          <a:xfrm>
            <a:off x="740360" y="1982597"/>
            <a:ext cx="210296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সমাধানঃ গ)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7"/>
          <p:cNvSpPr txBox="1"/>
          <p:nvPr/>
        </p:nvSpPr>
        <p:spPr>
          <a:xfrm>
            <a:off x="740359" y="2773006"/>
            <a:ext cx="59104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খ হতে পাই, সোহেলের মোট নম্বর ৩৭৪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7"/>
          <p:cNvSpPr txBox="1"/>
          <p:nvPr/>
        </p:nvSpPr>
        <p:spPr>
          <a:xfrm>
            <a:off x="740360" y="3660685"/>
            <a:ext cx="99276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হামিদার মোট নম্বর (৭২ + ৭৮ + ৮৪ + ৮০ + ৮৬) = ৪০০ নম্বর 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7"/>
          <p:cNvSpPr txBox="1"/>
          <p:nvPr/>
        </p:nvSpPr>
        <p:spPr>
          <a:xfrm>
            <a:off x="740360" y="4509644"/>
            <a:ext cx="311764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এখন, ৪০০ &gt; ৩৭৪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7"/>
          <p:cNvSpPr txBox="1"/>
          <p:nvPr/>
        </p:nvSpPr>
        <p:spPr>
          <a:xfrm>
            <a:off x="740360" y="5300052"/>
            <a:ext cx="56890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দুইজনের মধ্যে হামিদা ভালো করেছে।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7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5" name="Google Shape;525;p1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17</a:t>
            </a:fld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3175416" y="6356350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8"/>
          <p:cNvSpPr txBox="1"/>
          <p:nvPr/>
        </p:nvSpPr>
        <p:spPr>
          <a:xfrm>
            <a:off x="1186507" y="2599571"/>
            <a:ext cx="10114906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চার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সন্তান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ও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তাঁদের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পিতার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গড়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বয়স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২২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বছর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।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ঐ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চার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সন্তান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ও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তাঁদের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মাতার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গড়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বয়স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১৭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বছর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।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মাতার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বয়স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 ২৮ </a:t>
            </a:r>
            <a:r>
              <a:rPr lang="en-US" sz="4000" b="1" dirty="0" err="1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বছর</a:t>
            </a:r>
            <a:r>
              <a:rPr lang="en-US" sz="4000" b="1" dirty="0">
                <a:solidFill>
                  <a:schemeClr val="dk1"/>
                </a:solidFill>
                <a:latin typeface="SutonnyMJ" pitchFamily="2" charset="0"/>
                <a:cs typeface="SutonnyMJ" pitchFamily="2" charset="0"/>
                <a:sym typeface="Arial"/>
              </a:rPr>
              <a:t>। - </a:t>
            </a:r>
            <a:endParaRPr dirty="0">
              <a:latin typeface="SutonnyMJ" pitchFamily="2" charset="0"/>
              <a:cs typeface="SutonnyMJ" pitchFamily="2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চার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সন্তান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ও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পিতার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বয়সের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সমষ্টি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কত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খ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চার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সন্তান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ও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মাতার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বয়সের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সমষ্টি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কত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গ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পিতার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বয়স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কত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sz="4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3038182" y="6385182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Google Shape;453;p11">
            <a:extLst>
              <a:ext uri="{FF2B5EF4-FFF2-40B4-BE49-F238E27FC236}">
                <a16:creationId xmlns:a16="http://schemas.microsoft.com/office/drawing/2014/main" id="{2FC5888D-3B4F-C529-FBAF-983A42E1C508}"/>
              </a:ext>
            </a:extLst>
          </p:cNvPr>
          <p:cNvSpPr/>
          <p:nvPr/>
        </p:nvSpPr>
        <p:spPr>
          <a:xfrm>
            <a:off x="2796203" y="784021"/>
            <a:ext cx="5226111" cy="923289"/>
          </a:xfrm>
          <a:prstGeom prst="rect">
            <a:avLst/>
          </a:prstGeom>
          <a:solidFill>
            <a:srgbClr val="EE80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0000"/>
                </a:solidFill>
                <a:latin typeface="SutonnyMJ" pitchFamily="2" charset="0"/>
                <a:cs typeface="SutonnyMJ" pitchFamily="2" charset="0"/>
                <a:sym typeface="Arial"/>
              </a:rPr>
              <a:t>সমস্যা</a:t>
            </a:r>
            <a:r>
              <a:rPr lang="en-US" sz="5400" b="1" dirty="0">
                <a:latin typeface="SutonnyMJ" pitchFamily="2" charset="0"/>
                <a:cs typeface="SutonnyMJ" pitchFamily="2" charset="0"/>
              </a:rPr>
              <a:t>-3</a:t>
            </a:r>
            <a:endParaRPr sz="5400" b="1" dirty="0">
              <a:solidFill>
                <a:srgbClr val="000000"/>
              </a:solidFill>
              <a:latin typeface="SutonnyMJ" pitchFamily="2" charset="0"/>
              <a:cs typeface="SutonnyMJ" pitchFamily="2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9"/>
          <p:cNvSpPr/>
          <p:nvPr/>
        </p:nvSpPr>
        <p:spPr>
          <a:xfrm>
            <a:off x="3175416" y="6356721"/>
            <a:ext cx="5841168" cy="3972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3185409" y="694286"/>
            <a:ext cx="5474017" cy="1107996"/>
          </a:xfrm>
          <a:prstGeom prst="rect">
            <a:avLst/>
          </a:prstGeom>
          <a:solidFill>
            <a:srgbClr val="F8ABCA"/>
          </a:solidFill>
          <a:ln w="100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ধন‌্যবাদ</a:t>
            </a:r>
            <a:endParaRPr sz="6600" b="1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Red Orange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Basis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642</Words>
  <Application>Microsoft Macintosh PowerPoint</Application>
  <PresentationFormat>Widescreen</PresentationFormat>
  <Paragraphs>133</Paragraphs>
  <Slides>19</Slides>
  <Notes>19</Notes>
  <HiddenSlides>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SutonnyMJ</vt:lpstr>
      <vt:lpstr>Comic Sans MS</vt:lpstr>
      <vt:lpstr>Corbel</vt:lpstr>
      <vt:lpstr>Noto Sans Symbols</vt:lpstr>
      <vt:lpstr>Basis</vt:lpstr>
      <vt:lpstr>2_Office Theme</vt:lpstr>
      <vt:lpstr>1_Basis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DPE</dc:creator>
  <cp:lastModifiedBy>mdatikul islam</cp:lastModifiedBy>
  <cp:revision>8</cp:revision>
  <dcterms:created xsi:type="dcterms:W3CDTF">2021-06-25T11:20:39Z</dcterms:created>
  <dcterms:modified xsi:type="dcterms:W3CDTF">2025-11-19T19:05:39Z</dcterms:modified>
</cp:coreProperties>
</file>